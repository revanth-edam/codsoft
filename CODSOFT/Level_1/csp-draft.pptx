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7" r:id="rId14"/>
    <p:sldId id="275" r:id="rId15"/>
    <p:sldId id="268" r:id="rId16"/>
    <p:sldId id="269" r:id="rId17"/>
    <p:sldId id="270" r:id="rId18"/>
    <p:sldId id="271"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22E713D-B38C-44B3-AA1B-BF7E4901F54A}">
          <p14:sldIdLst>
            <p14:sldId id="256"/>
            <p14:sldId id="257"/>
            <p14:sldId id="258"/>
            <p14:sldId id="259"/>
            <p14:sldId id="260"/>
            <p14:sldId id="261"/>
            <p14:sldId id="262"/>
            <p14:sldId id="263"/>
            <p14:sldId id="264"/>
            <p14:sldId id="265"/>
            <p14:sldId id="266"/>
            <p14:sldId id="274"/>
            <p14:sldId id="267"/>
            <p14:sldId id="275"/>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1" d="100"/>
          <a:sy n="121" d="100"/>
        </p:scale>
        <p:origin x="11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C77DDF-0A27-67B6-5BDF-F285B4C717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1F2C14-519F-1665-5873-A72F255643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4B00D6-E1FF-4B73-A053-E585B1FBE901}" type="datetimeFigureOut">
              <a:rPr lang="en-IN" smtClean="0"/>
              <a:t>15-10-2025</a:t>
            </a:fld>
            <a:endParaRPr lang="en-IN"/>
          </a:p>
        </p:txBody>
      </p:sp>
      <p:sp>
        <p:nvSpPr>
          <p:cNvPr id="4" name="Footer Placeholder 3">
            <a:extLst>
              <a:ext uri="{FF2B5EF4-FFF2-40B4-BE49-F238E27FC236}">
                <a16:creationId xmlns:a16="http://schemas.microsoft.com/office/drawing/2014/main" id="{EF24DCC8-0A82-FBB1-C5C8-0A3B68A7E0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E7E76C3-C0CF-299E-70A1-6269DB6591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8F4E45-0858-4043-A964-1C66277AD123}" type="slidenum">
              <a:rPr lang="en-IN" smtClean="0"/>
              <a:t>‹#›</a:t>
            </a:fld>
            <a:endParaRPr lang="en-IN"/>
          </a:p>
        </p:txBody>
      </p:sp>
    </p:spTree>
    <p:extLst>
      <p:ext uri="{BB962C8B-B14F-4D97-AF65-F5344CB8AC3E}">
        <p14:creationId xmlns:p14="http://schemas.microsoft.com/office/powerpoint/2010/main" val="1157035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34C36-70B1-45F6-9FDE-F1D24E79F56D}" type="datetimeFigureOut">
              <a:rPr lang="en-IN" smtClean="0"/>
              <a:t>15-10-2025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F6A76-F437-4B4B-8482-7210935BA7C7}" type="slidenum">
              <a:rPr lang="en-IN" smtClean="0"/>
              <a:t>‹#›</a:t>
            </a:fld>
            <a:endParaRPr lang="en-IN"/>
          </a:p>
        </p:txBody>
      </p:sp>
    </p:spTree>
    <p:extLst>
      <p:ext uri="{BB962C8B-B14F-4D97-AF65-F5344CB8AC3E}">
        <p14:creationId xmlns:p14="http://schemas.microsoft.com/office/powerpoint/2010/main" val="31286623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EF6A76-F437-4B4B-8482-7210935BA7C7}" type="slidenum">
              <a:rPr lang="en-IN" smtClean="0"/>
              <a:t>1</a:t>
            </a:fld>
            <a:endParaRPr lang="en-IN"/>
          </a:p>
        </p:txBody>
      </p:sp>
    </p:spTree>
    <p:extLst>
      <p:ext uri="{BB962C8B-B14F-4D97-AF65-F5344CB8AC3E}">
        <p14:creationId xmlns:p14="http://schemas.microsoft.com/office/powerpoint/2010/main" val="885904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ACCCB-E175-57DF-24EA-FD7B125D54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FCE3B5-1C30-5CEF-2519-0F3E170553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2DF157-475F-2413-9A18-8C99B0F3777E}"/>
              </a:ext>
            </a:extLst>
          </p:cNvPr>
          <p:cNvSpPr>
            <a:spLocks noGrp="1"/>
          </p:cNvSpPr>
          <p:nvPr>
            <p:ph type="dt" sz="half" idx="10"/>
          </p:nvPr>
        </p:nvSpPr>
        <p:spPr/>
        <p:txBody>
          <a:bodyPr/>
          <a:lstStyle/>
          <a:p>
            <a:fld id="{BD205323-E29B-4B70-A94E-1594BD5CBD7E}" type="datetime1">
              <a:rPr lang="en-IN" smtClean="0"/>
              <a:t>15-10-2025</a:t>
            </a:fld>
            <a:endParaRPr lang="en-IN"/>
          </a:p>
        </p:txBody>
      </p:sp>
      <p:sp>
        <p:nvSpPr>
          <p:cNvPr id="5" name="Footer Placeholder 4">
            <a:extLst>
              <a:ext uri="{FF2B5EF4-FFF2-40B4-BE49-F238E27FC236}">
                <a16:creationId xmlns:a16="http://schemas.microsoft.com/office/drawing/2014/main" id="{F32620D2-DC7F-B2F2-0EA2-DA548AEDFE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035AC5-403F-A47E-E941-5EEB21D46E50}"/>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8694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CD6A-AF0F-7AD6-7A7C-AE6A86E812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8BD31-11F1-A76F-4F35-D68096911B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5168E4-CF8E-21D0-0E03-53396B119ABB}"/>
              </a:ext>
            </a:extLst>
          </p:cNvPr>
          <p:cNvSpPr>
            <a:spLocks noGrp="1"/>
          </p:cNvSpPr>
          <p:nvPr>
            <p:ph type="dt" sz="half" idx="10"/>
          </p:nvPr>
        </p:nvSpPr>
        <p:spPr/>
        <p:txBody>
          <a:bodyPr/>
          <a:lstStyle/>
          <a:p>
            <a:fld id="{4D494E78-88E1-46A4-AF1B-828B5E375FA2}" type="datetime1">
              <a:rPr lang="en-IN" smtClean="0"/>
              <a:t>15-10-2025</a:t>
            </a:fld>
            <a:endParaRPr lang="en-IN"/>
          </a:p>
        </p:txBody>
      </p:sp>
      <p:sp>
        <p:nvSpPr>
          <p:cNvPr id="5" name="Footer Placeholder 4">
            <a:extLst>
              <a:ext uri="{FF2B5EF4-FFF2-40B4-BE49-F238E27FC236}">
                <a16:creationId xmlns:a16="http://schemas.microsoft.com/office/drawing/2014/main" id="{CCBF465C-6C94-5A19-8095-13922281C2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06AA8D-3739-E96E-0A3F-1FFC9B3F8737}"/>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3026017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45A6B-F1C1-9EB4-A060-5B25A0F3EA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161C07-B202-8596-07A9-22822C9DF1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4F265-5CE9-9191-6286-2C9AE5F0B41D}"/>
              </a:ext>
            </a:extLst>
          </p:cNvPr>
          <p:cNvSpPr>
            <a:spLocks noGrp="1"/>
          </p:cNvSpPr>
          <p:nvPr>
            <p:ph type="dt" sz="half" idx="10"/>
          </p:nvPr>
        </p:nvSpPr>
        <p:spPr/>
        <p:txBody>
          <a:bodyPr/>
          <a:lstStyle/>
          <a:p>
            <a:fld id="{23E79717-40FC-4C73-B8FA-A58DAB8A6201}" type="datetime1">
              <a:rPr lang="en-IN" smtClean="0"/>
              <a:t>15-10-2025</a:t>
            </a:fld>
            <a:endParaRPr lang="en-IN"/>
          </a:p>
        </p:txBody>
      </p:sp>
      <p:sp>
        <p:nvSpPr>
          <p:cNvPr id="5" name="Footer Placeholder 4">
            <a:extLst>
              <a:ext uri="{FF2B5EF4-FFF2-40B4-BE49-F238E27FC236}">
                <a16:creationId xmlns:a16="http://schemas.microsoft.com/office/drawing/2014/main" id="{D681E1B0-75C0-03D7-9824-CA075284B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89738F-0524-AB68-D6DB-3A4E3B30CA0B}"/>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430770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F7E3-61D6-8491-1328-714F597035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7D3BCC-F5B5-90E7-1B9B-4B86B2286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C0F7E7-5B74-070A-47CE-41CB80123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5422ED-FA86-4920-5DDD-EF5BAB071BB7}"/>
              </a:ext>
            </a:extLst>
          </p:cNvPr>
          <p:cNvSpPr>
            <a:spLocks noGrp="1"/>
          </p:cNvSpPr>
          <p:nvPr>
            <p:ph type="dt" sz="half" idx="10"/>
          </p:nvPr>
        </p:nvSpPr>
        <p:spPr/>
        <p:txBody>
          <a:bodyPr/>
          <a:lstStyle/>
          <a:p>
            <a:fld id="{07621CF7-758A-44DA-BCBF-28E94B183FAA}" type="datetime1">
              <a:rPr lang="en-IN" smtClean="0"/>
              <a:t>15-10-2025</a:t>
            </a:fld>
            <a:endParaRPr lang="en-IN"/>
          </a:p>
        </p:txBody>
      </p:sp>
      <p:sp>
        <p:nvSpPr>
          <p:cNvPr id="6" name="Footer Placeholder 5">
            <a:extLst>
              <a:ext uri="{FF2B5EF4-FFF2-40B4-BE49-F238E27FC236}">
                <a16:creationId xmlns:a16="http://schemas.microsoft.com/office/drawing/2014/main" id="{632C7351-93DD-02B8-418D-4758BB5266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E1A715-8247-0449-9A75-090C2AC04B6C}"/>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22007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0879-59A2-9993-5923-31956486CE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34AD61-0E56-D989-0F6E-E2475CED0E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1878A4-D7B6-8C42-F70F-B46C102B4C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60B250-122E-ED60-C1CE-B01FF6F64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170AD3-919D-BA8B-B107-88B0AE5EC8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676A1F-60B9-95CE-E92F-BE7C1FBCA8C8}"/>
              </a:ext>
            </a:extLst>
          </p:cNvPr>
          <p:cNvSpPr>
            <a:spLocks noGrp="1"/>
          </p:cNvSpPr>
          <p:nvPr>
            <p:ph type="dt" sz="half" idx="10"/>
          </p:nvPr>
        </p:nvSpPr>
        <p:spPr/>
        <p:txBody>
          <a:bodyPr/>
          <a:lstStyle/>
          <a:p>
            <a:fld id="{F7B49FDD-8BD6-49CA-B47B-D82B5753DDDF}" type="datetime1">
              <a:rPr lang="en-IN" smtClean="0"/>
              <a:t>15-10-2025</a:t>
            </a:fld>
            <a:endParaRPr lang="en-IN"/>
          </a:p>
        </p:txBody>
      </p:sp>
      <p:sp>
        <p:nvSpPr>
          <p:cNvPr id="8" name="Footer Placeholder 7">
            <a:extLst>
              <a:ext uri="{FF2B5EF4-FFF2-40B4-BE49-F238E27FC236}">
                <a16:creationId xmlns:a16="http://schemas.microsoft.com/office/drawing/2014/main" id="{0505E6BD-7F75-F160-B5AE-BC0CB39A00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C4F82A-2F5F-AFF5-B7E5-195A9F7249CE}"/>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43375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701F4-BED2-1AAD-97E2-15FD1168B0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E9C3BD-B4F1-048A-3697-B165EAC0874B}"/>
              </a:ext>
            </a:extLst>
          </p:cNvPr>
          <p:cNvSpPr>
            <a:spLocks noGrp="1"/>
          </p:cNvSpPr>
          <p:nvPr>
            <p:ph type="dt" sz="half" idx="10"/>
          </p:nvPr>
        </p:nvSpPr>
        <p:spPr/>
        <p:txBody>
          <a:bodyPr/>
          <a:lstStyle/>
          <a:p>
            <a:fld id="{DF3971C4-7117-442F-820E-CC01BC240CFF}" type="datetime1">
              <a:rPr lang="en-IN" smtClean="0"/>
              <a:t>15-10-2025</a:t>
            </a:fld>
            <a:endParaRPr lang="en-IN"/>
          </a:p>
        </p:txBody>
      </p:sp>
      <p:sp>
        <p:nvSpPr>
          <p:cNvPr id="4" name="Footer Placeholder 3">
            <a:extLst>
              <a:ext uri="{FF2B5EF4-FFF2-40B4-BE49-F238E27FC236}">
                <a16:creationId xmlns:a16="http://schemas.microsoft.com/office/drawing/2014/main" id="{EA03806D-6534-3CB8-9569-E2F8462C40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855F470-2CEF-BAFE-7D89-13162D55866D}"/>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2698153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661FC1-61B2-0BEC-36EF-3DE62DB9ABC2}"/>
              </a:ext>
            </a:extLst>
          </p:cNvPr>
          <p:cNvSpPr>
            <a:spLocks noGrp="1"/>
          </p:cNvSpPr>
          <p:nvPr>
            <p:ph type="dt" sz="half" idx="10"/>
          </p:nvPr>
        </p:nvSpPr>
        <p:spPr/>
        <p:txBody>
          <a:bodyPr/>
          <a:lstStyle/>
          <a:p>
            <a:fld id="{FCA54E5A-9C4D-4470-846F-ADA8C588B6A9}" type="datetime1">
              <a:rPr lang="en-IN" smtClean="0"/>
              <a:t>15-10-2025</a:t>
            </a:fld>
            <a:endParaRPr lang="en-IN"/>
          </a:p>
        </p:txBody>
      </p:sp>
      <p:sp>
        <p:nvSpPr>
          <p:cNvPr id="3" name="Footer Placeholder 2">
            <a:extLst>
              <a:ext uri="{FF2B5EF4-FFF2-40B4-BE49-F238E27FC236}">
                <a16:creationId xmlns:a16="http://schemas.microsoft.com/office/drawing/2014/main" id="{A0D6DB32-5E56-9AF3-6840-1B34E91C4C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A33A9D-2826-6D71-05BE-6B8D457012D0}"/>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35505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E002-737C-263E-A4E0-BF90604D8C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7599A4-C8E8-FC9F-25B9-D033802111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0CDDF6-A347-9627-45DD-1B0CAA19C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C2D6B-F737-2EBE-5E8C-0BB78FDFA5E3}"/>
              </a:ext>
            </a:extLst>
          </p:cNvPr>
          <p:cNvSpPr>
            <a:spLocks noGrp="1"/>
          </p:cNvSpPr>
          <p:nvPr>
            <p:ph type="dt" sz="half" idx="10"/>
          </p:nvPr>
        </p:nvSpPr>
        <p:spPr/>
        <p:txBody>
          <a:bodyPr/>
          <a:lstStyle/>
          <a:p>
            <a:fld id="{7039F083-6D5B-4B0A-A053-F75A84FB0730}" type="datetime1">
              <a:rPr lang="en-IN" smtClean="0"/>
              <a:t>15-10-2025</a:t>
            </a:fld>
            <a:endParaRPr lang="en-IN"/>
          </a:p>
        </p:txBody>
      </p:sp>
      <p:sp>
        <p:nvSpPr>
          <p:cNvPr id="6" name="Footer Placeholder 5">
            <a:extLst>
              <a:ext uri="{FF2B5EF4-FFF2-40B4-BE49-F238E27FC236}">
                <a16:creationId xmlns:a16="http://schemas.microsoft.com/office/drawing/2014/main" id="{C1785B18-D373-F253-5581-CF1C04E35F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D5C7CE-A6DD-CD7E-7AF4-719C1B646F87}"/>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712005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8CCD2-0CAD-E143-4AED-BF6232E4D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E0C940-6F35-3FA0-09D1-81974FB73A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133F76-869F-7C98-8621-02EAAF7F9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BF9FDD-7956-7A3E-DF1B-E917B4C39FF6}"/>
              </a:ext>
            </a:extLst>
          </p:cNvPr>
          <p:cNvSpPr>
            <a:spLocks noGrp="1"/>
          </p:cNvSpPr>
          <p:nvPr>
            <p:ph type="dt" sz="half" idx="10"/>
          </p:nvPr>
        </p:nvSpPr>
        <p:spPr/>
        <p:txBody>
          <a:bodyPr/>
          <a:lstStyle/>
          <a:p>
            <a:fld id="{5E214738-DEA0-4125-998D-ECD817967A89}" type="datetime1">
              <a:rPr lang="en-IN" smtClean="0"/>
              <a:t>15-10-2025</a:t>
            </a:fld>
            <a:endParaRPr lang="en-IN"/>
          </a:p>
        </p:txBody>
      </p:sp>
      <p:sp>
        <p:nvSpPr>
          <p:cNvPr id="6" name="Footer Placeholder 5">
            <a:extLst>
              <a:ext uri="{FF2B5EF4-FFF2-40B4-BE49-F238E27FC236}">
                <a16:creationId xmlns:a16="http://schemas.microsoft.com/office/drawing/2014/main" id="{5228230D-B290-ED5F-5C68-CE723BCCA1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19775D-FAF7-3543-22DF-BD7C5A373C19}"/>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920706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5FB7-6D0C-1E16-0A66-E68B9D2C05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CEE2B5-8C5E-58D4-A3F9-3A30318733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A91197-E419-0573-70A8-DE688D37A4AC}"/>
              </a:ext>
            </a:extLst>
          </p:cNvPr>
          <p:cNvSpPr>
            <a:spLocks noGrp="1"/>
          </p:cNvSpPr>
          <p:nvPr>
            <p:ph type="dt" sz="half" idx="10"/>
          </p:nvPr>
        </p:nvSpPr>
        <p:spPr/>
        <p:txBody>
          <a:bodyPr/>
          <a:lstStyle/>
          <a:p>
            <a:fld id="{47CF1ED1-E35F-4D19-85BD-C5B2E1E72F64}" type="datetime1">
              <a:rPr lang="en-IN" smtClean="0"/>
              <a:t>15-10-2025</a:t>
            </a:fld>
            <a:endParaRPr lang="en-IN"/>
          </a:p>
        </p:txBody>
      </p:sp>
      <p:sp>
        <p:nvSpPr>
          <p:cNvPr id="5" name="Footer Placeholder 4">
            <a:extLst>
              <a:ext uri="{FF2B5EF4-FFF2-40B4-BE49-F238E27FC236}">
                <a16:creationId xmlns:a16="http://schemas.microsoft.com/office/drawing/2014/main" id="{0CFCDE99-3310-5C8E-4F2A-AC0ACD95C2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798FA3-7C23-3214-D38F-392AD8DFD97B}"/>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33222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A8C7CF-4623-DEC8-14AE-6192959423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61983F-2C6C-FD2E-187E-44A0B441A9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126E63-6CAC-E9E4-BF3F-C256D79316E9}"/>
              </a:ext>
            </a:extLst>
          </p:cNvPr>
          <p:cNvSpPr>
            <a:spLocks noGrp="1"/>
          </p:cNvSpPr>
          <p:nvPr>
            <p:ph type="dt" sz="half" idx="10"/>
          </p:nvPr>
        </p:nvSpPr>
        <p:spPr/>
        <p:txBody>
          <a:bodyPr/>
          <a:lstStyle/>
          <a:p>
            <a:fld id="{E6485591-7348-4410-8FD7-DA388D80B05C}" type="datetime1">
              <a:rPr lang="en-IN" smtClean="0"/>
              <a:t>15-10-2025</a:t>
            </a:fld>
            <a:endParaRPr lang="en-IN"/>
          </a:p>
        </p:txBody>
      </p:sp>
      <p:sp>
        <p:nvSpPr>
          <p:cNvPr id="5" name="Footer Placeholder 4">
            <a:extLst>
              <a:ext uri="{FF2B5EF4-FFF2-40B4-BE49-F238E27FC236}">
                <a16:creationId xmlns:a16="http://schemas.microsoft.com/office/drawing/2014/main" id="{66E2C139-7A5D-5405-E52E-049003BEA6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544655-C0E1-8A45-9962-DEB5CF93A4B9}"/>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315182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B3B46B-1610-0CE6-7155-D123E37416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B4927F-6A1D-B152-1C11-14603B53F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8B9BDF-D021-93E2-48DC-E3FB251E0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CE5703-3C09-48F0-BC15-A8F80091436C}" type="datetime1">
              <a:rPr lang="en-IN" smtClean="0"/>
              <a:t>15-10-2025</a:t>
            </a:fld>
            <a:endParaRPr lang="en-IN"/>
          </a:p>
        </p:txBody>
      </p:sp>
      <p:sp>
        <p:nvSpPr>
          <p:cNvPr id="5" name="Footer Placeholder 4">
            <a:extLst>
              <a:ext uri="{FF2B5EF4-FFF2-40B4-BE49-F238E27FC236}">
                <a16:creationId xmlns:a16="http://schemas.microsoft.com/office/drawing/2014/main" id="{1DAC4683-C2DB-CF7A-5C79-0094EA7CFA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C827840-6CAF-B6FA-3558-8E7408C33B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26DCF-DF60-4378-BFCC-D3A207344837}" type="slidenum">
              <a:rPr lang="en-IN" smtClean="0"/>
              <a:t>‹#›</a:t>
            </a:fld>
            <a:endParaRPr lang="en-IN"/>
          </a:p>
        </p:txBody>
      </p:sp>
    </p:spTree>
    <p:extLst>
      <p:ext uri="{BB962C8B-B14F-4D97-AF65-F5344CB8AC3E}">
        <p14:creationId xmlns:p14="http://schemas.microsoft.com/office/powerpoint/2010/main" val="24791143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23331a4722/voiceed.gi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0BAEA-A6E1-3B7C-66B0-6AA9B4168507}"/>
              </a:ext>
            </a:extLst>
          </p:cNvPr>
          <p:cNvSpPr>
            <a:spLocks noGrp="1"/>
          </p:cNvSpPr>
          <p:nvPr>
            <p:ph type="ctrTitle"/>
          </p:nvPr>
        </p:nvSpPr>
        <p:spPr>
          <a:xfrm>
            <a:off x="1404701" y="1087567"/>
            <a:ext cx="9144000" cy="814592"/>
          </a:xfrm>
        </p:spPr>
        <p:txBody>
          <a:bodyPr>
            <a:normAutofit fontScale="90000"/>
          </a:bodyPr>
          <a:lstStyle/>
          <a:p>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Community Project Review 2</a:t>
            </a:r>
            <a:br>
              <a:rPr lang="en-IN" sz="27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Branch: CSE-</a:t>
            </a:r>
            <a:r>
              <a:rPr lang="en-US" sz="2700" b="1" dirty="0">
                <a:latin typeface="Times New Roman" panose="02020603050405020304" pitchFamily="18" charset="0"/>
                <a:cs typeface="Times New Roman" panose="02020603050405020304" pitchFamily="18" charset="0"/>
              </a:rPr>
              <a:t> IoT, Cybersecurity with Blockchain Technology</a:t>
            </a:r>
            <a:br>
              <a:rPr lang="en-IN" sz="27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Department: Data Engineering </a:t>
            </a:r>
            <a:br>
              <a:rPr lang="en-IN" sz="27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Semester: V                           Regulation: R23             Course Code: R23MSCSP001</a:t>
            </a:r>
            <a:endParaRPr lang="en-IN" sz="27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287393A-5152-2239-E68B-758F108442CF}"/>
              </a:ext>
            </a:extLst>
          </p:cNvPr>
          <p:cNvSpPr>
            <a:spLocks noGrp="1"/>
          </p:cNvSpPr>
          <p:nvPr>
            <p:ph type="subTitle" idx="1"/>
          </p:nvPr>
        </p:nvSpPr>
        <p:spPr>
          <a:xfrm>
            <a:off x="745847" y="1982521"/>
            <a:ext cx="9144000" cy="851288"/>
          </a:xfrm>
        </p:spPr>
        <p:txBody>
          <a:bodyPr>
            <a:normAutofit/>
          </a:bodyPr>
          <a:lstStyle/>
          <a:p>
            <a:pPr algn="just"/>
            <a:r>
              <a:rPr lang="en-IN" sz="2000" b="1" dirty="0">
                <a:latin typeface="Times New Roman" panose="02020603050405020304" pitchFamily="18" charset="0"/>
                <a:cs typeface="Times New Roman" panose="02020603050405020304" pitchFamily="18" charset="0"/>
              </a:rPr>
              <a:t>Project Title:   Voice ED: Inclusive Exams For All</a:t>
            </a:r>
          </a:p>
          <a:p>
            <a:pPr algn="just"/>
            <a:r>
              <a:rPr lang="en-IN" sz="2000" b="1" dirty="0">
                <a:latin typeface="Times New Roman" panose="02020603050405020304" pitchFamily="18" charset="0"/>
                <a:cs typeface="Times New Roman" panose="02020603050405020304" pitchFamily="18" charset="0"/>
              </a:rPr>
              <a:t>Batch Number: 10  </a:t>
            </a:r>
            <a:r>
              <a:rPr lang="en-IN" sz="20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BA592D27-4689-15C5-3F5C-AA972595D57A}"/>
              </a:ext>
            </a:extLst>
          </p:cNvPr>
          <p:cNvPicPr>
            <a:picLocks noChangeAspect="1"/>
          </p:cNvPicPr>
          <p:nvPr/>
        </p:nvPicPr>
        <p:blipFill>
          <a:blip r:embed="rId3"/>
          <a:stretch>
            <a:fillRect/>
          </a:stretch>
        </p:blipFill>
        <p:spPr>
          <a:xfrm>
            <a:off x="10548701" y="308164"/>
            <a:ext cx="749873" cy="512108"/>
          </a:xfrm>
          <a:prstGeom prst="rect">
            <a:avLst/>
          </a:prstGeom>
        </p:spPr>
      </p:pic>
      <p:graphicFrame>
        <p:nvGraphicFramePr>
          <p:cNvPr id="5" name="Table 4">
            <a:extLst>
              <a:ext uri="{FF2B5EF4-FFF2-40B4-BE49-F238E27FC236}">
                <a16:creationId xmlns:a16="http://schemas.microsoft.com/office/drawing/2014/main" id="{860522D6-D17F-C571-6E54-DC1EB5D4FD69}"/>
              </a:ext>
            </a:extLst>
          </p:cNvPr>
          <p:cNvGraphicFramePr>
            <a:graphicFrameLocks noGrp="1"/>
          </p:cNvGraphicFramePr>
          <p:nvPr>
            <p:extLst>
              <p:ext uri="{D42A27DB-BD31-4B8C-83A1-F6EECF244321}">
                <p14:modId xmlns:p14="http://schemas.microsoft.com/office/powerpoint/2010/main" val="3593573532"/>
              </p:ext>
            </p:extLst>
          </p:nvPr>
        </p:nvGraphicFramePr>
        <p:xfrm>
          <a:off x="3123336" y="2841523"/>
          <a:ext cx="6246761" cy="2077466"/>
        </p:xfrm>
        <a:graphic>
          <a:graphicData uri="http://schemas.openxmlformats.org/drawingml/2006/table">
            <a:tbl>
              <a:tblPr firstRow="1" bandRow="1">
                <a:tableStyleId>{5C22544A-7EE6-4342-B048-85BDC9FD1C3A}</a:tableStyleId>
              </a:tblPr>
              <a:tblGrid>
                <a:gridCol w="1035664">
                  <a:extLst>
                    <a:ext uri="{9D8B030D-6E8A-4147-A177-3AD203B41FA5}">
                      <a16:colId xmlns:a16="http://schemas.microsoft.com/office/drawing/2014/main" val="2978184859"/>
                    </a:ext>
                  </a:extLst>
                </a:gridCol>
                <a:gridCol w="2408903">
                  <a:extLst>
                    <a:ext uri="{9D8B030D-6E8A-4147-A177-3AD203B41FA5}">
                      <a16:colId xmlns:a16="http://schemas.microsoft.com/office/drawing/2014/main" val="2193938237"/>
                    </a:ext>
                  </a:extLst>
                </a:gridCol>
                <a:gridCol w="2802194">
                  <a:extLst>
                    <a:ext uri="{9D8B030D-6E8A-4147-A177-3AD203B41FA5}">
                      <a16:colId xmlns:a16="http://schemas.microsoft.com/office/drawing/2014/main" val="2017919128"/>
                    </a:ext>
                  </a:extLst>
                </a:gridCol>
              </a:tblGrid>
              <a:tr h="280548">
                <a:tc>
                  <a:txBody>
                    <a:bodyPr/>
                    <a:lstStyle/>
                    <a:p>
                      <a:pPr algn="ctr"/>
                      <a:r>
                        <a:rPr lang="en-IN" dirty="0">
                          <a:latin typeface="Times New Roman" panose="02020603050405020304" pitchFamily="18" charset="0"/>
                          <a:cs typeface="Times New Roman" panose="02020603050405020304" pitchFamily="18" charset="0"/>
                        </a:rPr>
                        <a:t>S</a:t>
                      </a:r>
                      <a:r>
                        <a:rPr lang="en-IN" dirty="0">
                          <a:solidFill>
                            <a:schemeClr val="tx1"/>
                          </a:solidFill>
                          <a:latin typeface="Times New Roman" panose="02020603050405020304" pitchFamily="18" charset="0"/>
                          <a:cs typeface="Times New Roman" panose="02020603050405020304" pitchFamily="18" charset="0"/>
                        </a:rPr>
                        <a:t>S. No</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Register Number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4480993"/>
                  </a:ext>
                </a:extLst>
              </a:tr>
              <a:tr h="370840">
                <a:tc>
                  <a:txBody>
                    <a:bodyPr/>
                    <a:lstStyle/>
                    <a:p>
                      <a:r>
                        <a:rPr lang="en-IN" dirty="0">
                          <a:latin typeface="Times New Roman" panose="02020603050405020304" pitchFamily="18" charset="0"/>
                          <a:cs typeface="Times New Roman" panose="02020603050405020304" pitchFamily="18" charset="0"/>
                        </a:rPr>
                        <a: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        23331A4714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kern="1200" dirty="0">
                          <a:solidFill>
                            <a:schemeClr val="dk1"/>
                          </a:solidFill>
                          <a:effectLst/>
                          <a:latin typeface="+mn-lt"/>
                          <a:ea typeface="+mn-ea"/>
                          <a:cs typeface="+mn-cs"/>
                        </a:rPr>
                        <a:t>EDAM REVANTH</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5102560"/>
                  </a:ext>
                </a:extLst>
              </a:tr>
              <a:tr h="370840">
                <a:tc>
                  <a:txBody>
                    <a:bodyPr/>
                    <a:lstStyle/>
                    <a:p>
                      <a:r>
                        <a:rPr lang="en-IN" dirty="0">
                          <a:latin typeface="Times New Roman" panose="02020603050405020304" pitchFamily="18" charset="0"/>
                          <a:cs typeface="Times New Roman" panose="02020603050405020304" pitchFamily="18" charset="0"/>
                        </a:rPr>
                        <a:t>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        23331A4722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kern="1200" dirty="0">
                          <a:solidFill>
                            <a:schemeClr val="dk1"/>
                          </a:solidFill>
                          <a:effectLst/>
                          <a:latin typeface="+mn-lt"/>
                          <a:ea typeface="+mn-ea"/>
                          <a:cs typeface="+mn-cs"/>
                        </a:rPr>
                        <a:t>KARNA PARDHASARADI REDDY</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9443936"/>
                  </a:ext>
                </a:extLst>
              </a:tr>
              <a:tr h="370840">
                <a:tc>
                  <a:txBody>
                    <a:bodyPr/>
                    <a:lstStyle/>
                    <a:p>
                      <a:r>
                        <a:rPr lang="en-IN" dirty="0">
                          <a:latin typeface="Times New Roman" panose="02020603050405020304" pitchFamily="18" charset="0"/>
                          <a:cs typeface="Times New Roman" panose="02020603050405020304" pitchFamily="18" charset="0"/>
                        </a:rPr>
                        <a: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        23331A4734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buNone/>
                      </a:pPr>
                      <a:r>
                        <a:rPr lang="en-IN" sz="1600" b="0" dirty="0">
                          <a:effectLst/>
                          <a:latin typeface="+mn-lt"/>
                          <a:ea typeface="Times New Roman" panose="02020603050405020304" pitchFamily="18" charset="0"/>
                        </a:rPr>
                        <a:t>MEESALA KOMALI</a:t>
                      </a:r>
                      <a:endParaRPr lang="en-IN" sz="1600" b="0" dirty="0">
                        <a:effectLst/>
                        <a:latin typeface="+mn-lt"/>
                        <a:ea typeface="Arial" panose="020B0604020202020204" pitchFamily="34"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9527198"/>
                  </a:ext>
                </a:extLst>
              </a:tr>
              <a:tr h="370840">
                <a:tc>
                  <a:txBody>
                    <a:bodyPr/>
                    <a:lstStyle/>
                    <a:p>
                      <a:r>
                        <a:rPr lang="en-IN" dirty="0">
                          <a:latin typeface="Times New Roman" panose="02020603050405020304" pitchFamily="18" charset="0"/>
                          <a:cs typeface="Times New Roman" panose="02020603050405020304" pitchFamily="18" charset="0"/>
                        </a:rPr>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        23331A4738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kern="1200" dirty="0">
                          <a:solidFill>
                            <a:schemeClr val="dk1"/>
                          </a:solidFill>
                          <a:effectLst/>
                          <a:latin typeface="+mn-lt"/>
                          <a:ea typeface="+mn-ea"/>
                          <a:cs typeface="+mn-cs"/>
                        </a:rPr>
                        <a:t>NADUPURU VENKATA CHARU VARDAN</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687222"/>
                  </a:ext>
                </a:extLst>
              </a:tr>
            </a:tbl>
          </a:graphicData>
        </a:graphic>
      </p:graphicFrame>
      <p:sp>
        <p:nvSpPr>
          <p:cNvPr id="7" name="TextBox 6">
            <a:extLst>
              <a:ext uri="{FF2B5EF4-FFF2-40B4-BE49-F238E27FC236}">
                <a16:creationId xmlns:a16="http://schemas.microsoft.com/office/drawing/2014/main" id="{6B39C9FE-9A55-D878-4113-BB45C8E42B25}"/>
              </a:ext>
            </a:extLst>
          </p:cNvPr>
          <p:cNvSpPr txBox="1"/>
          <p:nvPr/>
        </p:nvSpPr>
        <p:spPr>
          <a:xfrm>
            <a:off x="666564" y="5004620"/>
            <a:ext cx="478050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Guide Name: </a:t>
            </a:r>
            <a:r>
              <a:rPr lang="en-IN" dirty="0" err="1">
                <a:cs typeface="Times New Roman" panose="02020603050405020304" pitchFamily="18" charset="0"/>
              </a:rPr>
              <a:t>N</a:t>
            </a:r>
            <a:r>
              <a:rPr lang="en-IN" b="1" dirty="0" err="1">
                <a:latin typeface="Times New Roman" panose="02020603050405020304" pitchFamily="18" charset="0"/>
                <a:cs typeface="Times New Roman" panose="02020603050405020304" pitchFamily="18" charset="0"/>
              </a:rPr>
              <a:t>.</a:t>
            </a:r>
            <a:r>
              <a:rPr lang="en-IN" dirty="0" err="1"/>
              <a:t>Sowjanya</a:t>
            </a:r>
            <a:r>
              <a:rPr lang="en-IN" dirty="0"/>
              <a:t> kumari</a:t>
            </a:r>
            <a:endParaRPr lang="en-IN" b="1" dirty="0">
              <a:latin typeface="Times New Roman" panose="02020603050405020304" pitchFamily="18" charset="0"/>
              <a:cs typeface="Times New Roman" panose="02020603050405020304" pitchFamily="18" charset="0"/>
            </a:endParaRPr>
          </a:p>
          <a:p>
            <a:r>
              <a:rPr lang="en-IN" b="1" dirty="0" err="1">
                <a:latin typeface="Times New Roman" panose="02020603050405020304" pitchFamily="18" charset="0"/>
                <a:cs typeface="Times New Roman" panose="02020603050405020304" pitchFamily="18" charset="0"/>
              </a:rPr>
              <a:t>Designation:</a:t>
            </a:r>
            <a:r>
              <a:rPr lang="en-IN" dirty="0" err="1"/>
              <a:t>Assistant</a:t>
            </a:r>
            <a:r>
              <a:rPr lang="en-IN" dirty="0"/>
              <a:t> Professor</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6925BDB-B544-A468-80FA-5C328DABA918}"/>
              </a:ext>
            </a:extLst>
          </p:cNvPr>
          <p:cNvSpPr txBox="1"/>
          <p:nvPr/>
        </p:nvSpPr>
        <p:spPr>
          <a:xfrm>
            <a:off x="666564" y="5770433"/>
            <a:ext cx="3929730" cy="646331"/>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Project Coordinator</a:t>
            </a:r>
            <a:r>
              <a:rPr lang="en-IN" dirty="0">
                <a:latin typeface="Times New Roman" panose="02020603050405020304" pitchFamily="18" charset="0"/>
                <a:cs typeface="Times New Roman" panose="02020603050405020304" pitchFamily="18" charset="0"/>
              </a:rPr>
              <a:t>: </a:t>
            </a:r>
            <a:r>
              <a:rPr lang="en-IN" dirty="0"/>
              <a:t>Mr. V. Manikanta</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Designation</a:t>
            </a:r>
            <a:r>
              <a:rPr lang="en-IN" dirty="0">
                <a:latin typeface="Times New Roman" panose="02020603050405020304" pitchFamily="18" charset="0"/>
                <a:cs typeface="Times New Roman" panose="02020603050405020304" pitchFamily="18" charset="0"/>
              </a:rPr>
              <a:t>: </a:t>
            </a:r>
            <a:r>
              <a:rPr lang="en-IN" dirty="0"/>
              <a:t>Assistant Professor</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8E228F4-F1C6-996C-1333-E77944D0112F}"/>
              </a:ext>
            </a:extLst>
          </p:cNvPr>
          <p:cNvSpPr txBox="1"/>
          <p:nvPr/>
        </p:nvSpPr>
        <p:spPr>
          <a:xfrm>
            <a:off x="7441620" y="5767836"/>
            <a:ext cx="3856953" cy="646331"/>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Head of the Department</a:t>
            </a:r>
            <a:r>
              <a:rPr lang="en-IN" dirty="0">
                <a:latin typeface="Times New Roman" panose="02020603050405020304" pitchFamily="18" charset="0"/>
                <a:cs typeface="Times New Roman" panose="02020603050405020304" pitchFamily="18" charset="0"/>
              </a:rPr>
              <a:t>: Dr. V. Jyothi</a:t>
            </a:r>
          </a:p>
          <a:p>
            <a:r>
              <a:rPr lang="en-IN" b="1" dirty="0">
                <a:latin typeface="Times New Roman" panose="02020603050405020304" pitchFamily="18" charset="0"/>
                <a:cs typeface="Times New Roman" panose="02020603050405020304" pitchFamily="18" charset="0"/>
              </a:rPr>
              <a:t>Designation</a:t>
            </a:r>
            <a:r>
              <a:rPr lang="en-IN" dirty="0">
                <a:latin typeface="Times New Roman" panose="02020603050405020304" pitchFamily="18" charset="0"/>
                <a:cs typeface="Times New Roman" panose="02020603050405020304" pitchFamily="18" charset="0"/>
              </a:rPr>
              <a:t>: Associate Professor</a:t>
            </a:r>
          </a:p>
        </p:txBody>
      </p:sp>
    </p:spTree>
    <p:extLst>
      <p:ext uri="{BB962C8B-B14F-4D97-AF65-F5344CB8AC3E}">
        <p14:creationId xmlns:p14="http://schemas.microsoft.com/office/powerpoint/2010/main" val="75902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20921-4932-359B-99DF-4AA4E8AA81E7}"/>
              </a:ext>
            </a:extLst>
          </p:cNvPr>
          <p:cNvSpPr>
            <a:spLocks noGrp="1"/>
          </p:cNvSpPr>
          <p:nvPr>
            <p:ph type="title"/>
          </p:nvPr>
        </p:nvSpPr>
        <p:spPr>
          <a:xfrm>
            <a:off x="838200" y="157490"/>
            <a:ext cx="10515600" cy="1325563"/>
          </a:xfrm>
        </p:spPr>
        <p:txBody>
          <a:bodyPr/>
          <a:lstStyle/>
          <a:p>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2F48609-A98A-9DB7-F9E6-DD71B73CA3B1}"/>
              </a:ext>
            </a:extLst>
          </p:cNvPr>
          <p:cNvSpPr>
            <a:spLocks noGrp="1"/>
          </p:cNvSpPr>
          <p:nvPr>
            <p:ph idx="1"/>
          </p:nvPr>
        </p:nvSpPr>
        <p:spPr>
          <a:xfrm>
            <a:off x="782974" y="1092095"/>
            <a:ext cx="10515600" cy="4351338"/>
          </a:xfrm>
        </p:spPr>
        <p:txBody>
          <a:bodyPr>
            <a:noAutofit/>
          </a:bodyPr>
          <a:lstStyle/>
          <a:p>
            <a:pPr marL="0" indent="0" algn="just">
              <a:lnSpc>
                <a:spcPct val="160000"/>
              </a:lnSpc>
              <a:buNone/>
            </a:pPr>
            <a:r>
              <a:rPr lang="en-US" sz="2400" dirty="0">
                <a:latin typeface="Times New Roman" panose="02020603050405020304" pitchFamily="18" charset="0"/>
                <a:cs typeface="Times New Roman" panose="02020603050405020304" pitchFamily="18" charset="0"/>
              </a:rPr>
              <a:t>The project Voice Ed: Inclusive Exams for All aims to eliminate the barriers faced by visually impaired students in online examinations. Traditional exam platforms often lack screen-reader compatibility and require mouse or keyboard input, creating accessibility challenges. Voice Ed introduces a voice-driven online examination system powered by Text-to-Speech (TTS) and Speech-to-Text (STT) technologies. The system allows students to listen to questions, speak answers, and navigate exams through simple voice Commands. The platform also enables teachers to create and grade exams in an accessible environment, thereby promoting digital inclusivity and independent learning for all.</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655E744-4F16-AB16-DDA3-CC5C491B31D8}"/>
              </a:ext>
            </a:extLst>
          </p:cNvPr>
          <p:cNvSpPr>
            <a:spLocks noGrp="1"/>
          </p:cNvSpPr>
          <p:nvPr>
            <p:ph type="dt" sz="half" idx="10"/>
          </p:nvPr>
        </p:nvSpPr>
        <p:spPr/>
        <p:txBody>
          <a:bodyPr/>
          <a:lstStyle/>
          <a:p>
            <a:fld id="{FE974F2A-A0F5-462A-B1D5-45ADC5AE6C5E}" type="datetime1">
              <a:rPr lang="en-IN" smtClean="0"/>
              <a:t>15-10-2025</a:t>
            </a:fld>
            <a:endParaRPr lang="en-IN"/>
          </a:p>
        </p:txBody>
      </p:sp>
      <p:sp>
        <p:nvSpPr>
          <p:cNvPr id="6" name="Slide Number Placeholder 5">
            <a:extLst>
              <a:ext uri="{FF2B5EF4-FFF2-40B4-BE49-F238E27FC236}">
                <a16:creationId xmlns:a16="http://schemas.microsoft.com/office/drawing/2014/main" id="{3B85AC38-09FE-7208-D128-A2197A2CA3B9}"/>
              </a:ext>
            </a:extLst>
          </p:cNvPr>
          <p:cNvSpPr>
            <a:spLocks noGrp="1"/>
          </p:cNvSpPr>
          <p:nvPr>
            <p:ph type="sldNum" sz="quarter" idx="12"/>
          </p:nvPr>
        </p:nvSpPr>
        <p:spPr/>
        <p:txBody>
          <a:bodyPr/>
          <a:lstStyle/>
          <a:p>
            <a:fld id="{47526DCF-DF60-4378-BFCC-D3A207344837}" type="slidenum">
              <a:rPr lang="en-IN" smtClean="0"/>
              <a:t>2</a:t>
            </a:fld>
            <a:endParaRPr lang="en-IN"/>
          </a:p>
        </p:txBody>
      </p:sp>
      <p:pic>
        <p:nvPicPr>
          <p:cNvPr id="7" name="Picture 6">
            <a:extLst>
              <a:ext uri="{FF2B5EF4-FFF2-40B4-BE49-F238E27FC236}">
                <a16:creationId xmlns:a16="http://schemas.microsoft.com/office/drawing/2014/main" id="{A526EC84-803A-584C-6162-3F3E62A942F9}"/>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460425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A163-6249-C153-BF1D-0EAD5B5D0C7C}"/>
              </a:ext>
            </a:extLst>
          </p:cNvPr>
          <p:cNvSpPr>
            <a:spLocks noGrp="1"/>
          </p:cNvSpPr>
          <p:nvPr>
            <p:ph type="title"/>
          </p:nvPr>
        </p:nvSpPr>
        <p:spPr>
          <a:xfrm>
            <a:off x="210138" y="157490"/>
            <a:ext cx="10515600" cy="1325563"/>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6947E6A8-1D4F-F059-0DFB-EE7106621549}"/>
              </a:ext>
            </a:extLst>
          </p:cNvPr>
          <p:cNvSpPr>
            <a:spLocks noGrp="1"/>
          </p:cNvSpPr>
          <p:nvPr>
            <p:ph idx="1"/>
          </p:nvPr>
        </p:nvSpPr>
        <p:spPr>
          <a:xfrm>
            <a:off x="210138" y="1071996"/>
            <a:ext cx="11771723" cy="5477839"/>
          </a:xfrm>
        </p:spPr>
        <p:txBody>
          <a:bodyPr>
            <a:noAutofit/>
          </a:bodyPr>
          <a:lstStyle/>
          <a:p>
            <a:pPr marL="0" indent="0" algn="just">
              <a:lnSpc>
                <a:spcPct val="110000"/>
              </a:lnSpc>
              <a:buNone/>
            </a:pPr>
            <a:r>
              <a:rPr lang="en-US" sz="2400" b="1" dirty="0">
                <a:latin typeface="Times New Roman" panose="02020603050405020304" pitchFamily="18" charset="0"/>
                <a:cs typeface="Times New Roman" panose="02020603050405020304" pitchFamily="18" charset="0"/>
              </a:rPr>
              <a:t>Core Challenge</a:t>
            </a:r>
            <a:r>
              <a:rPr lang="en-US" sz="2400" dirty="0">
                <a:latin typeface="Times New Roman" panose="02020603050405020304" pitchFamily="18" charset="0"/>
                <a:cs typeface="Times New Roman" panose="02020603050405020304" pitchFamily="18" charset="0"/>
              </a:rPr>
              <a:t>: Visually impaired students struggle with traditional online exams                     due to incompatibility with assistive tools and complex navigation. </a:t>
            </a:r>
          </a:p>
          <a:p>
            <a:pPr marL="0" indent="0">
              <a:lnSpc>
                <a:spcPct val="110000"/>
              </a:lnSpc>
              <a:buNone/>
            </a:pPr>
            <a:r>
              <a:rPr lang="en-US" sz="2400" b="1" dirty="0">
                <a:latin typeface="Times New Roman" panose="02020603050405020304" pitchFamily="18" charset="0"/>
                <a:cs typeface="Times New Roman" panose="02020603050405020304" pitchFamily="18" charset="0"/>
              </a:rPr>
              <a:t>Key Issues:</a:t>
            </a:r>
          </a:p>
          <a:p>
            <a:pPr>
              <a:lnSpc>
                <a:spcPct val="110000"/>
              </a:lnSpc>
            </a:pPr>
            <a:r>
              <a:rPr lang="en-US" sz="2400" dirty="0">
                <a:latin typeface="Times New Roman" panose="02020603050405020304" pitchFamily="18" charset="0"/>
                <a:cs typeface="Times New Roman" panose="02020603050405020304" pitchFamily="18" charset="0"/>
              </a:rPr>
              <a:t>Lack of screen-reader support. </a:t>
            </a:r>
          </a:p>
          <a:p>
            <a:pPr>
              <a:lnSpc>
                <a:spcPct val="110000"/>
              </a:lnSpc>
            </a:pPr>
            <a:r>
              <a:rPr lang="en-US" sz="2400" dirty="0">
                <a:latin typeface="Times New Roman" panose="02020603050405020304" pitchFamily="18" charset="0"/>
                <a:cs typeface="Times New Roman" panose="02020603050405020304" pitchFamily="18" charset="0"/>
              </a:rPr>
              <a:t>Over-dependence on proctors for assistance.</a:t>
            </a:r>
          </a:p>
          <a:p>
            <a:pPr>
              <a:lnSpc>
                <a:spcPct val="110000"/>
              </a:lnSpc>
            </a:pPr>
            <a:r>
              <a:rPr lang="en-US" sz="2400" dirty="0">
                <a:latin typeface="Times New Roman" panose="02020603050405020304" pitchFamily="18" charset="0"/>
                <a:cs typeface="Times New Roman" panose="02020603050405020304" pitchFamily="18" charset="0"/>
              </a:rPr>
              <a:t> Reliance on mouse/keyboard navigation.</a:t>
            </a:r>
          </a:p>
          <a:p>
            <a:pPr>
              <a:lnSpc>
                <a:spcPct val="110000"/>
              </a:lnSpc>
            </a:pPr>
            <a:r>
              <a:rPr lang="en-US" sz="2400" dirty="0">
                <a:latin typeface="Times New Roman" panose="02020603050405020304" pitchFamily="18" charset="0"/>
                <a:cs typeface="Times New Roman" panose="02020603050405020304" pitchFamily="18" charset="0"/>
              </a:rPr>
              <a:t> Low accessibility awareness in existing platforms.</a:t>
            </a:r>
          </a:p>
          <a:p>
            <a:pPr marL="0" indent="0">
              <a:lnSpc>
                <a:spcPct val="110000"/>
              </a:lnSpc>
              <a:buNone/>
            </a:pPr>
            <a:r>
              <a:rPr lang="en-US" sz="2400" b="1" dirty="0">
                <a:latin typeface="Times New Roman" panose="02020603050405020304" pitchFamily="18" charset="0"/>
                <a:cs typeface="Times New Roman" panose="02020603050405020304" pitchFamily="18" charset="0"/>
              </a:rPr>
              <a:t>Our  Solution</a:t>
            </a:r>
            <a:r>
              <a:rPr lang="en-US" sz="2400" dirty="0">
                <a:latin typeface="Times New Roman" panose="02020603050405020304" pitchFamily="18" charset="0"/>
                <a:cs typeface="Times New Roman" panose="02020603050405020304" pitchFamily="18" charset="0"/>
              </a:rPr>
              <a:t>: Voice Ed provides a fully voice-enabled and accessible exam portal using speech technologies and web accessibility standards.</a:t>
            </a:r>
          </a:p>
          <a:p>
            <a:pPr marL="0" indent="0">
              <a:lnSpc>
                <a:spcPct val="110000"/>
              </a:lnSpc>
              <a:buNone/>
            </a:pPr>
            <a:r>
              <a:rPr lang="en-US" sz="2400" b="1" dirty="0">
                <a:latin typeface="Times New Roman" panose="02020603050405020304" pitchFamily="18" charset="0"/>
                <a:cs typeface="Times New Roman" panose="02020603050405020304" pitchFamily="18" charset="0"/>
              </a:rPr>
              <a:t>Project  Focus</a:t>
            </a:r>
            <a:r>
              <a:rPr lang="en-US" sz="2400" dirty="0">
                <a:latin typeface="Times New Roman" panose="02020603050405020304" pitchFamily="18" charset="0"/>
                <a:cs typeface="Times New Roman" panose="02020603050405020304" pitchFamily="18" charset="0"/>
              </a:rPr>
              <a:t>: Creating an inclusive digital examination system that ensures equal learning opportunities for differently-abled students.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830161D-19CD-E770-288B-8FB741A16950}"/>
              </a:ext>
            </a:extLst>
          </p:cNvPr>
          <p:cNvSpPr>
            <a:spLocks noGrp="1"/>
          </p:cNvSpPr>
          <p:nvPr>
            <p:ph type="dt" sz="half" idx="10"/>
          </p:nvPr>
        </p:nvSpPr>
        <p:spPr/>
        <p:txBody>
          <a:bodyPr/>
          <a:lstStyle/>
          <a:p>
            <a:fld id="{AB8162A8-FB7E-4CF4-AE0B-1836D97118EA}" type="datetime1">
              <a:rPr lang="en-IN" smtClean="0"/>
              <a:t>15-10-2025</a:t>
            </a:fld>
            <a:endParaRPr lang="en-IN"/>
          </a:p>
        </p:txBody>
      </p:sp>
      <p:sp>
        <p:nvSpPr>
          <p:cNvPr id="6" name="Slide Number Placeholder 5">
            <a:extLst>
              <a:ext uri="{FF2B5EF4-FFF2-40B4-BE49-F238E27FC236}">
                <a16:creationId xmlns:a16="http://schemas.microsoft.com/office/drawing/2014/main" id="{D00027E8-23A5-F915-61C5-AC94CD2CCAA1}"/>
              </a:ext>
            </a:extLst>
          </p:cNvPr>
          <p:cNvSpPr>
            <a:spLocks noGrp="1"/>
          </p:cNvSpPr>
          <p:nvPr>
            <p:ph type="sldNum" sz="quarter" idx="12"/>
          </p:nvPr>
        </p:nvSpPr>
        <p:spPr/>
        <p:txBody>
          <a:bodyPr/>
          <a:lstStyle/>
          <a:p>
            <a:fld id="{47526DCF-DF60-4378-BFCC-D3A207344837}" type="slidenum">
              <a:rPr lang="en-IN" smtClean="0"/>
              <a:t>3</a:t>
            </a:fld>
            <a:endParaRPr lang="en-IN"/>
          </a:p>
        </p:txBody>
      </p:sp>
      <p:pic>
        <p:nvPicPr>
          <p:cNvPr id="7" name="Picture 6">
            <a:extLst>
              <a:ext uri="{FF2B5EF4-FFF2-40B4-BE49-F238E27FC236}">
                <a16:creationId xmlns:a16="http://schemas.microsoft.com/office/drawing/2014/main" id="{35A3E381-85CC-9706-F59D-6A67D387A1D4}"/>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53244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1DCD-EEEE-3347-5C0C-10E73A5FE82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Objectives </a:t>
            </a:r>
          </a:p>
        </p:txBody>
      </p:sp>
      <p:sp>
        <p:nvSpPr>
          <p:cNvPr id="3" name="Content Placeholder 2">
            <a:extLst>
              <a:ext uri="{FF2B5EF4-FFF2-40B4-BE49-F238E27FC236}">
                <a16:creationId xmlns:a16="http://schemas.microsoft.com/office/drawing/2014/main" id="{E7A309FA-ECA9-0D37-3075-3DFE51A0BA27}"/>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To develop a voice-controlled online examination system.</a:t>
            </a:r>
          </a:p>
          <a:p>
            <a:pPr>
              <a:lnSpc>
                <a:spcPct val="150000"/>
              </a:lnSpc>
            </a:pPr>
            <a:r>
              <a:rPr lang="en-US" sz="2400" dirty="0">
                <a:latin typeface="Times New Roman" panose="02020603050405020304" pitchFamily="18" charset="0"/>
                <a:cs typeface="Times New Roman" panose="02020603050405020304" pitchFamily="18" charset="0"/>
              </a:rPr>
              <a:t>To integrate Text-to-Speech (TTS) for reading questions aloud.</a:t>
            </a:r>
          </a:p>
          <a:p>
            <a:pPr>
              <a:lnSpc>
                <a:spcPct val="150000"/>
              </a:lnSpc>
            </a:pPr>
            <a:r>
              <a:rPr lang="en-US" sz="2400" dirty="0">
                <a:latin typeface="Times New Roman" panose="02020603050405020304" pitchFamily="18" charset="0"/>
                <a:cs typeface="Times New Roman" panose="02020603050405020304" pitchFamily="18" charset="0"/>
              </a:rPr>
              <a:t>To implement Speech-to-Text (STT) for capturing answers.</a:t>
            </a:r>
          </a:p>
          <a:p>
            <a:pPr>
              <a:lnSpc>
                <a:spcPct val="150000"/>
              </a:lnSpc>
            </a:pPr>
            <a:r>
              <a:rPr lang="en-US" sz="2400" dirty="0">
                <a:latin typeface="Times New Roman" panose="02020603050405020304" pitchFamily="18" charset="0"/>
                <a:cs typeface="Times New Roman" panose="02020603050405020304" pitchFamily="18" charset="0"/>
              </a:rPr>
              <a:t>To ensure keyboard-free, voice-based navigation.</a:t>
            </a:r>
          </a:p>
          <a:p>
            <a:pPr>
              <a:lnSpc>
                <a:spcPct val="150000"/>
              </a:lnSpc>
            </a:pPr>
            <a:r>
              <a:rPr lang="en-US" sz="2400" dirty="0">
                <a:latin typeface="Times New Roman" panose="02020603050405020304" pitchFamily="18" charset="0"/>
                <a:cs typeface="Times New Roman" panose="02020603050405020304" pitchFamily="18" charset="0"/>
              </a:rPr>
              <a:t>To design accessible exam creation and grading tools for teachers.</a:t>
            </a:r>
          </a:p>
          <a:p>
            <a:pPr>
              <a:lnSpc>
                <a:spcPct val="150000"/>
              </a:lnSpc>
            </a:pPr>
            <a:r>
              <a:rPr lang="en-US" sz="2400" dirty="0">
                <a:latin typeface="Times New Roman" panose="02020603050405020304" pitchFamily="18" charset="0"/>
                <a:cs typeface="Times New Roman" panose="02020603050405020304" pitchFamily="18" charset="0"/>
              </a:rPr>
              <a:t>To promote inclusive education through universal accessibility standards.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64FF40B-8D9A-3811-177F-61E7CFC63E3D}"/>
              </a:ext>
            </a:extLst>
          </p:cNvPr>
          <p:cNvSpPr>
            <a:spLocks noGrp="1"/>
          </p:cNvSpPr>
          <p:nvPr>
            <p:ph type="dt" sz="half" idx="10"/>
          </p:nvPr>
        </p:nvSpPr>
        <p:spPr/>
        <p:txBody>
          <a:bodyPr/>
          <a:lstStyle/>
          <a:p>
            <a:fld id="{BED015C5-18A8-469F-B68B-6A6C54345583}" type="datetime1">
              <a:rPr lang="en-IN" smtClean="0"/>
              <a:t>15-10-2025</a:t>
            </a:fld>
            <a:endParaRPr lang="en-IN"/>
          </a:p>
        </p:txBody>
      </p:sp>
      <p:sp>
        <p:nvSpPr>
          <p:cNvPr id="6" name="Slide Number Placeholder 5">
            <a:extLst>
              <a:ext uri="{FF2B5EF4-FFF2-40B4-BE49-F238E27FC236}">
                <a16:creationId xmlns:a16="http://schemas.microsoft.com/office/drawing/2014/main" id="{ED8B19C1-E836-3143-E8F6-83D3B2B4139E}"/>
              </a:ext>
            </a:extLst>
          </p:cNvPr>
          <p:cNvSpPr>
            <a:spLocks noGrp="1"/>
          </p:cNvSpPr>
          <p:nvPr>
            <p:ph type="sldNum" sz="quarter" idx="12"/>
          </p:nvPr>
        </p:nvSpPr>
        <p:spPr/>
        <p:txBody>
          <a:bodyPr/>
          <a:lstStyle/>
          <a:p>
            <a:fld id="{47526DCF-DF60-4378-BFCC-D3A207344837}" type="slidenum">
              <a:rPr lang="en-IN" smtClean="0"/>
              <a:t>4</a:t>
            </a:fld>
            <a:endParaRPr lang="en-IN"/>
          </a:p>
        </p:txBody>
      </p:sp>
      <p:pic>
        <p:nvPicPr>
          <p:cNvPr id="7" name="Picture 6">
            <a:extLst>
              <a:ext uri="{FF2B5EF4-FFF2-40B4-BE49-F238E27FC236}">
                <a16:creationId xmlns:a16="http://schemas.microsoft.com/office/drawing/2014/main" id="{1D1DC7ED-C42A-CC79-9D3F-F83F86991707}"/>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221795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F1CE-E15D-F045-5F27-8386F788570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 </a:t>
            </a:r>
          </a:p>
        </p:txBody>
      </p:sp>
      <p:sp>
        <p:nvSpPr>
          <p:cNvPr id="3" name="Content Placeholder 2">
            <a:extLst>
              <a:ext uri="{FF2B5EF4-FFF2-40B4-BE49-F238E27FC236}">
                <a16:creationId xmlns:a16="http://schemas.microsoft.com/office/drawing/2014/main" id="{54038444-F448-26A9-5077-57C05FD0C603}"/>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Existing online exam platforms are not designed for visually impaired users.</a:t>
            </a:r>
          </a:p>
          <a:p>
            <a:pPr marL="0" indent="0">
              <a:buNone/>
            </a:pPr>
            <a:r>
              <a:rPr lang="en-US" sz="2400" b="1" dirty="0">
                <a:latin typeface="Times New Roman" panose="02020603050405020304" pitchFamily="18" charset="0"/>
                <a:cs typeface="Times New Roman" panose="02020603050405020304" pitchFamily="18" charset="0"/>
              </a:rPr>
              <a:t>Problems Identified:</a:t>
            </a:r>
          </a:p>
          <a:p>
            <a:r>
              <a:rPr lang="en-US" sz="2400" dirty="0">
                <a:latin typeface="Times New Roman" panose="02020603050405020304" pitchFamily="18" charset="0"/>
                <a:cs typeface="Times New Roman" panose="02020603050405020304" pitchFamily="18" charset="0"/>
              </a:rPr>
              <a:t>Lack of compatibility with screen readers.</a:t>
            </a:r>
          </a:p>
          <a:p>
            <a:r>
              <a:rPr lang="en-US" sz="2400" dirty="0">
                <a:latin typeface="Times New Roman" panose="02020603050405020304" pitchFamily="18" charset="0"/>
                <a:cs typeface="Times New Roman" panose="02020603050405020304" pitchFamily="18" charset="0"/>
              </a:rPr>
              <a:t>Difficulty in navigating interfaces.</a:t>
            </a:r>
          </a:p>
          <a:p>
            <a:r>
              <a:rPr lang="en-US" sz="2400" dirty="0">
                <a:latin typeface="Times New Roman" panose="02020603050405020304" pitchFamily="18" charset="0"/>
                <a:cs typeface="Times New Roman" panose="02020603050405020304" pitchFamily="18" charset="0"/>
              </a:rPr>
              <a:t>Dependence on human assistance during exams.</a:t>
            </a:r>
          </a:p>
          <a:p>
            <a:r>
              <a:rPr lang="en-US" sz="2400" dirty="0">
                <a:latin typeface="Times New Roman" panose="02020603050405020304" pitchFamily="18" charset="0"/>
                <a:cs typeface="Times New Roman" panose="02020603050405020304" pitchFamily="18" charset="0"/>
              </a:rPr>
              <a:t>Reduced independence and privacy for  students.</a:t>
            </a:r>
          </a:p>
          <a:p>
            <a:r>
              <a:rPr lang="en-US" sz="2400" dirty="0">
                <a:latin typeface="Times New Roman" panose="02020603050405020304" pitchFamily="18" charset="0"/>
                <a:cs typeface="Times New Roman" panose="02020603050405020304" pitchFamily="18" charset="0"/>
              </a:rPr>
              <a:t>Limited awareness of accessibility tools among educators.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C5BFB55-6FFB-24BF-FC26-16756F9C7AB1}"/>
              </a:ext>
            </a:extLst>
          </p:cNvPr>
          <p:cNvSpPr>
            <a:spLocks noGrp="1"/>
          </p:cNvSpPr>
          <p:nvPr>
            <p:ph type="dt" sz="half" idx="10"/>
          </p:nvPr>
        </p:nvSpPr>
        <p:spPr/>
        <p:txBody>
          <a:bodyPr/>
          <a:lstStyle/>
          <a:p>
            <a:fld id="{986E555F-2F27-45B3-8C9B-E0FE9428F052}" type="datetime1">
              <a:rPr lang="en-IN" smtClean="0"/>
              <a:t>15-10-2025</a:t>
            </a:fld>
            <a:endParaRPr lang="en-IN"/>
          </a:p>
        </p:txBody>
      </p:sp>
      <p:sp>
        <p:nvSpPr>
          <p:cNvPr id="6" name="Slide Number Placeholder 5">
            <a:extLst>
              <a:ext uri="{FF2B5EF4-FFF2-40B4-BE49-F238E27FC236}">
                <a16:creationId xmlns:a16="http://schemas.microsoft.com/office/drawing/2014/main" id="{5A366203-58FD-8CDB-1D75-2688B4B3CF34}"/>
              </a:ext>
            </a:extLst>
          </p:cNvPr>
          <p:cNvSpPr>
            <a:spLocks noGrp="1"/>
          </p:cNvSpPr>
          <p:nvPr>
            <p:ph type="sldNum" sz="quarter" idx="12"/>
          </p:nvPr>
        </p:nvSpPr>
        <p:spPr/>
        <p:txBody>
          <a:bodyPr/>
          <a:lstStyle/>
          <a:p>
            <a:fld id="{47526DCF-DF60-4378-BFCC-D3A207344837}" type="slidenum">
              <a:rPr lang="en-IN" smtClean="0"/>
              <a:t>5</a:t>
            </a:fld>
            <a:endParaRPr lang="en-IN"/>
          </a:p>
        </p:txBody>
      </p:sp>
      <p:pic>
        <p:nvPicPr>
          <p:cNvPr id="7" name="Picture 6">
            <a:extLst>
              <a:ext uri="{FF2B5EF4-FFF2-40B4-BE49-F238E27FC236}">
                <a16:creationId xmlns:a16="http://schemas.microsoft.com/office/drawing/2014/main" id="{1C582375-BE02-B1EC-871E-5AC268240A48}"/>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575843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FEA8-C384-12D9-AB4F-914A0FC4FC19}"/>
              </a:ext>
            </a:extLst>
          </p:cNvPr>
          <p:cNvSpPr>
            <a:spLocks noGrp="1"/>
          </p:cNvSpPr>
          <p:nvPr>
            <p:ph type="title"/>
          </p:nvPr>
        </p:nvSpPr>
        <p:spPr>
          <a:xfrm>
            <a:off x="408037" y="136525"/>
            <a:ext cx="10515600" cy="1325563"/>
          </a:xfrm>
        </p:spPr>
        <p:txBody>
          <a:bodyPr/>
          <a:lstStyle/>
          <a:p>
            <a:r>
              <a:rPr lang="en-IN" b="1" dirty="0">
                <a:latin typeface="Times New Roman" panose="02020603050405020304" pitchFamily="18" charset="0"/>
                <a:cs typeface="Times New Roman" panose="02020603050405020304" pitchFamily="18" charset="0"/>
              </a:rPr>
              <a:t>Project Scope </a:t>
            </a:r>
          </a:p>
        </p:txBody>
      </p:sp>
      <p:sp>
        <p:nvSpPr>
          <p:cNvPr id="3" name="Content Placeholder 2">
            <a:extLst>
              <a:ext uri="{FF2B5EF4-FFF2-40B4-BE49-F238E27FC236}">
                <a16:creationId xmlns:a16="http://schemas.microsoft.com/office/drawing/2014/main" id="{FBC0B15C-BAE5-AEC8-6CE9-C41F378D5706}"/>
              </a:ext>
            </a:extLst>
          </p:cNvPr>
          <p:cNvSpPr>
            <a:spLocks noGrp="1"/>
          </p:cNvSpPr>
          <p:nvPr>
            <p:ph idx="1"/>
          </p:nvPr>
        </p:nvSpPr>
        <p:spPr>
          <a:xfrm>
            <a:off x="908538" y="1253331"/>
            <a:ext cx="10515600" cy="4351338"/>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Core  Product: </a:t>
            </a:r>
            <a:r>
              <a:rPr lang="en-IN" sz="2400" dirty="0">
                <a:latin typeface="Times New Roman" panose="02020603050405020304" pitchFamily="18" charset="0"/>
                <a:cs typeface="Times New Roman" panose="02020603050405020304" pitchFamily="18" charset="0"/>
              </a:rPr>
              <a:t>A web-based voice-enabled online exam system with TTS and STT support.</a:t>
            </a:r>
          </a:p>
          <a:p>
            <a:r>
              <a:rPr lang="en-IN" sz="2400" b="1" dirty="0">
                <a:latin typeface="Times New Roman" panose="02020603050405020304" pitchFamily="18" charset="0"/>
                <a:cs typeface="Times New Roman" panose="02020603050405020304" pitchFamily="18" charset="0"/>
              </a:rPr>
              <a:t>Accessibility:</a:t>
            </a:r>
          </a:p>
          <a:p>
            <a:r>
              <a:rPr lang="en-IN" sz="2400" dirty="0">
                <a:latin typeface="Times New Roman" panose="02020603050405020304" pitchFamily="18" charset="0"/>
                <a:cs typeface="Times New Roman" panose="02020603050405020304" pitchFamily="18" charset="0"/>
              </a:rPr>
              <a:t>Fully screen-reader compatible.</a:t>
            </a:r>
          </a:p>
          <a:p>
            <a:r>
              <a:rPr lang="en-IN" sz="2400" dirty="0">
                <a:latin typeface="Times New Roman" panose="02020603050405020304" pitchFamily="18" charset="0"/>
                <a:cs typeface="Times New Roman" panose="02020603050405020304" pitchFamily="18" charset="0"/>
              </a:rPr>
              <a:t>Adjustable text size,  </a:t>
            </a:r>
            <a:r>
              <a:rPr lang="en-IN" sz="2400" dirty="0" err="1">
                <a:latin typeface="Times New Roman" panose="02020603050405020304" pitchFamily="18" charset="0"/>
                <a:cs typeface="Times New Roman" panose="02020603050405020304" pitchFamily="18" charset="0"/>
              </a:rPr>
              <a:t>color</a:t>
            </a:r>
            <a:r>
              <a:rPr lang="en-IN" sz="2400" dirty="0">
                <a:latin typeface="Times New Roman" panose="02020603050405020304" pitchFamily="18" charset="0"/>
                <a:cs typeface="Times New Roman" panose="02020603050405020304" pitchFamily="18" charset="0"/>
              </a:rPr>
              <a:t> contrast, and audio feedback.</a:t>
            </a:r>
          </a:p>
          <a:p>
            <a:r>
              <a:rPr lang="en-IN" sz="2400" dirty="0">
                <a:latin typeface="Times New Roman" panose="02020603050405020304" pitchFamily="18" charset="0"/>
                <a:cs typeface="Times New Roman" panose="02020603050405020304" pitchFamily="18" charset="0"/>
              </a:rPr>
              <a:t>Supports multiple regional languages.</a:t>
            </a:r>
          </a:p>
          <a:p>
            <a:pPr marL="0" indent="0">
              <a:buNone/>
            </a:pPr>
            <a:r>
              <a:rPr lang="en-IN" sz="2400" b="1" dirty="0">
                <a:latin typeface="Times New Roman" panose="02020603050405020304" pitchFamily="18" charset="0"/>
                <a:cs typeface="Times New Roman" panose="02020603050405020304" pitchFamily="18" charset="0"/>
              </a:rPr>
              <a:t>Target Users</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Visually impaired students.</a:t>
            </a:r>
          </a:p>
          <a:p>
            <a:r>
              <a:rPr lang="en-IN" sz="2400" dirty="0">
                <a:latin typeface="Times New Roman" panose="02020603050405020304" pitchFamily="18" charset="0"/>
                <a:cs typeface="Times New Roman" panose="02020603050405020304" pitchFamily="18" charset="0"/>
              </a:rPr>
              <a:t>Teachers conducting inclusive exams.</a:t>
            </a:r>
          </a:p>
          <a:p>
            <a:pPr marL="0" indent="0">
              <a:buNone/>
            </a:pPr>
            <a:r>
              <a:rPr lang="en-IN" sz="2400" b="1" dirty="0">
                <a:latin typeface="Times New Roman" panose="02020603050405020304" pitchFamily="18" charset="0"/>
                <a:cs typeface="Times New Roman" panose="02020603050405020304" pitchFamily="18" charset="0"/>
              </a:rPr>
              <a:t>Additional  Scope: </a:t>
            </a:r>
          </a:p>
          <a:p>
            <a:r>
              <a:rPr lang="en-IN" sz="2400" dirty="0">
                <a:latin typeface="Times New Roman" panose="02020603050405020304" pitchFamily="18" charset="0"/>
                <a:cs typeface="Times New Roman" panose="02020603050405020304" pitchFamily="18" charset="0"/>
              </a:rPr>
              <a:t>Tools for accessible exam creation and  grading.</a:t>
            </a:r>
          </a:p>
          <a:p>
            <a:r>
              <a:rPr lang="en-IN" sz="2400" dirty="0">
                <a:latin typeface="Times New Roman" panose="02020603050405020304" pitchFamily="18" charset="0"/>
                <a:cs typeface="Times New Roman" panose="02020603050405020304" pitchFamily="18" charset="0"/>
              </a:rPr>
              <a:t>Cloud-based deployment for scalability and availability.</a:t>
            </a:r>
          </a:p>
        </p:txBody>
      </p:sp>
      <p:sp>
        <p:nvSpPr>
          <p:cNvPr id="4" name="Date Placeholder 3">
            <a:extLst>
              <a:ext uri="{FF2B5EF4-FFF2-40B4-BE49-F238E27FC236}">
                <a16:creationId xmlns:a16="http://schemas.microsoft.com/office/drawing/2014/main" id="{389C5961-D989-CCB9-FD83-F855C7B0BD94}"/>
              </a:ext>
            </a:extLst>
          </p:cNvPr>
          <p:cNvSpPr>
            <a:spLocks noGrp="1"/>
          </p:cNvSpPr>
          <p:nvPr>
            <p:ph type="dt" sz="half" idx="10"/>
          </p:nvPr>
        </p:nvSpPr>
        <p:spPr/>
        <p:txBody>
          <a:bodyPr/>
          <a:lstStyle/>
          <a:p>
            <a:fld id="{D18A71FD-1390-4BA0-9817-771C1FA47802}" type="datetime1">
              <a:rPr lang="en-IN" smtClean="0"/>
              <a:t>15-10-2025</a:t>
            </a:fld>
            <a:endParaRPr lang="en-IN"/>
          </a:p>
        </p:txBody>
      </p:sp>
      <p:sp>
        <p:nvSpPr>
          <p:cNvPr id="6" name="Slide Number Placeholder 5">
            <a:extLst>
              <a:ext uri="{FF2B5EF4-FFF2-40B4-BE49-F238E27FC236}">
                <a16:creationId xmlns:a16="http://schemas.microsoft.com/office/drawing/2014/main" id="{FCD3A722-16A3-7F28-8B33-145DDBD14735}"/>
              </a:ext>
            </a:extLst>
          </p:cNvPr>
          <p:cNvSpPr>
            <a:spLocks noGrp="1"/>
          </p:cNvSpPr>
          <p:nvPr>
            <p:ph type="sldNum" sz="quarter" idx="12"/>
          </p:nvPr>
        </p:nvSpPr>
        <p:spPr/>
        <p:txBody>
          <a:bodyPr/>
          <a:lstStyle/>
          <a:p>
            <a:fld id="{47526DCF-DF60-4378-BFCC-D3A207344837}" type="slidenum">
              <a:rPr lang="en-IN" smtClean="0"/>
              <a:t>6</a:t>
            </a:fld>
            <a:endParaRPr lang="en-IN"/>
          </a:p>
        </p:txBody>
      </p:sp>
      <p:pic>
        <p:nvPicPr>
          <p:cNvPr id="7" name="Picture 6">
            <a:extLst>
              <a:ext uri="{FF2B5EF4-FFF2-40B4-BE49-F238E27FC236}">
                <a16:creationId xmlns:a16="http://schemas.microsoft.com/office/drawing/2014/main" id="{535870F8-32CC-B8D9-4CE1-97AD403EAEFB}"/>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4234970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9C14-2B02-B270-5179-DFDBCC786CB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Literature Review/ Background Study</a:t>
            </a:r>
          </a:p>
        </p:txBody>
      </p:sp>
      <p:sp>
        <p:nvSpPr>
          <p:cNvPr id="3" name="Content Placeholder 2">
            <a:extLst>
              <a:ext uri="{FF2B5EF4-FFF2-40B4-BE49-F238E27FC236}">
                <a16:creationId xmlns:a16="http://schemas.microsoft.com/office/drawing/2014/main" id="{A7CDC786-22BB-A884-8B53-DA269870884E}"/>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Research shows a significant gap in digital inclusivity within current educational systems.</a:t>
            </a:r>
          </a:p>
          <a:p>
            <a:r>
              <a:rPr lang="en-US" sz="2400" dirty="0">
                <a:latin typeface="Times New Roman" panose="02020603050405020304" pitchFamily="18" charset="0"/>
                <a:cs typeface="Times New Roman" panose="02020603050405020304" pitchFamily="18" charset="0"/>
              </a:rPr>
              <a:t>Popular LMS platforms (like Moodle and Google Classroom) lack voice-first interaction.</a:t>
            </a:r>
          </a:p>
          <a:p>
            <a:r>
              <a:rPr lang="en-US" sz="2400" dirty="0">
                <a:latin typeface="Times New Roman" panose="02020603050405020304" pitchFamily="18" charset="0"/>
                <a:cs typeface="Times New Roman" panose="02020603050405020304" pitchFamily="18" charset="0"/>
              </a:rPr>
              <a:t>Speech recognition and web accessibility standards (WCAG, ARIA) open new  possibilities.</a:t>
            </a:r>
          </a:p>
          <a:p>
            <a:r>
              <a:rPr lang="en-US" sz="2400" dirty="0">
                <a:latin typeface="Times New Roman" panose="02020603050405020304" pitchFamily="18" charset="0"/>
                <a:cs typeface="Times New Roman" panose="02020603050405020304" pitchFamily="18" charset="0"/>
              </a:rPr>
              <a:t>According to WHO, over 250 million people worldwide are visually impaired — highlighting the need for such inclusive systems.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EA7CDDA-2D40-BA62-8006-5B7536C152A6}"/>
              </a:ext>
            </a:extLst>
          </p:cNvPr>
          <p:cNvSpPr>
            <a:spLocks noGrp="1"/>
          </p:cNvSpPr>
          <p:nvPr>
            <p:ph type="dt" sz="half" idx="10"/>
          </p:nvPr>
        </p:nvSpPr>
        <p:spPr/>
        <p:txBody>
          <a:bodyPr/>
          <a:lstStyle/>
          <a:p>
            <a:fld id="{DE75B930-88B3-44D4-A202-6F4F8CAF65BF}" type="datetime1">
              <a:rPr lang="en-IN" smtClean="0"/>
              <a:t>15-10-2025</a:t>
            </a:fld>
            <a:endParaRPr lang="en-IN"/>
          </a:p>
        </p:txBody>
      </p:sp>
      <p:sp>
        <p:nvSpPr>
          <p:cNvPr id="6" name="Slide Number Placeholder 5">
            <a:extLst>
              <a:ext uri="{FF2B5EF4-FFF2-40B4-BE49-F238E27FC236}">
                <a16:creationId xmlns:a16="http://schemas.microsoft.com/office/drawing/2014/main" id="{39D0E2F4-4D03-64AC-6C32-461FDD377128}"/>
              </a:ext>
            </a:extLst>
          </p:cNvPr>
          <p:cNvSpPr>
            <a:spLocks noGrp="1"/>
          </p:cNvSpPr>
          <p:nvPr>
            <p:ph type="sldNum" sz="quarter" idx="12"/>
          </p:nvPr>
        </p:nvSpPr>
        <p:spPr/>
        <p:txBody>
          <a:bodyPr/>
          <a:lstStyle/>
          <a:p>
            <a:fld id="{47526DCF-DF60-4378-BFCC-D3A207344837}" type="slidenum">
              <a:rPr lang="en-IN" smtClean="0"/>
              <a:t>7</a:t>
            </a:fld>
            <a:endParaRPr lang="en-IN"/>
          </a:p>
        </p:txBody>
      </p:sp>
      <p:pic>
        <p:nvPicPr>
          <p:cNvPr id="7" name="Picture 6">
            <a:extLst>
              <a:ext uri="{FF2B5EF4-FFF2-40B4-BE49-F238E27FC236}">
                <a16:creationId xmlns:a16="http://schemas.microsoft.com/office/drawing/2014/main" id="{193C2E1C-C125-D2D3-F0BB-B09EA3CB79EE}"/>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115011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DCCA-37C5-B802-67BD-50809562852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used</a:t>
            </a:r>
          </a:p>
        </p:txBody>
      </p:sp>
      <p:sp>
        <p:nvSpPr>
          <p:cNvPr id="3" name="Content Placeholder 2">
            <a:extLst>
              <a:ext uri="{FF2B5EF4-FFF2-40B4-BE49-F238E27FC236}">
                <a16:creationId xmlns:a16="http://schemas.microsoft.com/office/drawing/2014/main" id="{A7DBCA9F-57F0-F61B-39F7-21618BD0BD13}"/>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User feedback from visually impaired students and teachers.</a:t>
            </a:r>
          </a:p>
          <a:p>
            <a:pPr marL="0" indent="0">
              <a:buNone/>
            </a:pPr>
            <a:r>
              <a:rPr lang="en-IN" sz="2400" dirty="0">
                <a:latin typeface="Times New Roman" panose="02020603050405020304" pitchFamily="18" charset="0"/>
                <a:cs typeface="Times New Roman" panose="02020603050405020304" pitchFamily="18" charset="0"/>
              </a:rPr>
              <a:t>Accessibility standards: </a:t>
            </a:r>
          </a:p>
          <a:p>
            <a:r>
              <a:rPr lang="en-IN" sz="2400" dirty="0">
                <a:latin typeface="Times New Roman" panose="02020603050405020304" pitchFamily="18" charset="0"/>
                <a:cs typeface="Times New Roman" panose="02020603050405020304" pitchFamily="18" charset="0"/>
              </a:rPr>
              <a:t>WCAG 2.1, ARIA Guidelines.</a:t>
            </a:r>
          </a:p>
          <a:p>
            <a:pPr marL="0" indent="0">
              <a:buNone/>
            </a:pPr>
            <a:r>
              <a:rPr lang="en-IN" sz="2400" dirty="0">
                <a:latin typeface="Times New Roman" panose="02020603050405020304" pitchFamily="18" charset="0"/>
                <a:cs typeface="Times New Roman" panose="02020603050405020304" pitchFamily="18" charset="0"/>
              </a:rPr>
              <a:t>Speech API benchmarks:</a:t>
            </a:r>
          </a:p>
          <a:p>
            <a:r>
              <a:rPr lang="en-IN" sz="2400" dirty="0">
                <a:latin typeface="Times New Roman" panose="02020603050405020304" pitchFamily="18" charset="0"/>
                <a:cs typeface="Times New Roman" panose="02020603050405020304" pitchFamily="18" charset="0"/>
              </a:rPr>
              <a:t> Google Speech API, Web Speech API, Azure STT.</a:t>
            </a:r>
          </a:p>
          <a:p>
            <a:r>
              <a:rPr lang="en-IN" sz="2400" dirty="0">
                <a:latin typeface="Times New Roman" panose="02020603050405020304" pitchFamily="18" charset="0"/>
                <a:cs typeface="Times New Roman" panose="02020603050405020304" pitchFamily="18" charset="0"/>
              </a:rPr>
              <a:t>Survey data on assistive technologies (NVDA,  </a:t>
            </a:r>
            <a:r>
              <a:rPr lang="en-IN" sz="2400" dirty="0" err="1">
                <a:latin typeface="Times New Roman" panose="02020603050405020304" pitchFamily="18" charset="0"/>
                <a:cs typeface="Times New Roman" panose="02020603050405020304" pitchFamily="18" charset="0"/>
              </a:rPr>
              <a:t>VoiceOver</a:t>
            </a:r>
            <a:r>
              <a:rPr lang="en-IN" sz="2400" dirty="0">
                <a:latin typeface="Times New Roman" panose="02020603050405020304" pitchFamily="18" charset="0"/>
                <a:cs typeface="Times New Roman" panose="02020603050405020304" pitchFamily="18" charset="0"/>
              </a:rPr>
              <a:t>, etc….).</a:t>
            </a:r>
          </a:p>
        </p:txBody>
      </p:sp>
      <p:sp>
        <p:nvSpPr>
          <p:cNvPr id="4" name="Date Placeholder 3">
            <a:extLst>
              <a:ext uri="{FF2B5EF4-FFF2-40B4-BE49-F238E27FC236}">
                <a16:creationId xmlns:a16="http://schemas.microsoft.com/office/drawing/2014/main" id="{2B6F7C9E-6959-7DF2-0958-3377A79EDB7E}"/>
              </a:ext>
            </a:extLst>
          </p:cNvPr>
          <p:cNvSpPr>
            <a:spLocks noGrp="1"/>
          </p:cNvSpPr>
          <p:nvPr>
            <p:ph type="dt" sz="half" idx="10"/>
          </p:nvPr>
        </p:nvSpPr>
        <p:spPr/>
        <p:txBody>
          <a:bodyPr/>
          <a:lstStyle/>
          <a:p>
            <a:fld id="{10AC8817-4F34-43C2-AFBB-35605F3F6A14}" type="datetime1">
              <a:rPr lang="en-IN" smtClean="0"/>
              <a:t>15-10-2025</a:t>
            </a:fld>
            <a:endParaRPr lang="en-IN"/>
          </a:p>
        </p:txBody>
      </p:sp>
      <p:sp>
        <p:nvSpPr>
          <p:cNvPr id="6" name="Slide Number Placeholder 5">
            <a:extLst>
              <a:ext uri="{FF2B5EF4-FFF2-40B4-BE49-F238E27FC236}">
                <a16:creationId xmlns:a16="http://schemas.microsoft.com/office/drawing/2014/main" id="{7D4876AD-1BA9-F95A-15CD-7AD191B79662}"/>
              </a:ext>
            </a:extLst>
          </p:cNvPr>
          <p:cNvSpPr>
            <a:spLocks noGrp="1"/>
          </p:cNvSpPr>
          <p:nvPr>
            <p:ph type="sldNum" sz="quarter" idx="12"/>
          </p:nvPr>
        </p:nvSpPr>
        <p:spPr/>
        <p:txBody>
          <a:bodyPr/>
          <a:lstStyle/>
          <a:p>
            <a:fld id="{47526DCF-DF60-4378-BFCC-D3A207344837}" type="slidenum">
              <a:rPr lang="en-IN" smtClean="0"/>
              <a:t>8</a:t>
            </a:fld>
            <a:endParaRPr lang="en-IN"/>
          </a:p>
        </p:txBody>
      </p:sp>
      <p:pic>
        <p:nvPicPr>
          <p:cNvPr id="7" name="Picture 6">
            <a:extLst>
              <a:ext uri="{FF2B5EF4-FFF2-40B4-BE49-F238E27FC236}">
                <a16:creationId xmlns:a16="http://schemas.microsoft.com/office/drawing/2014/main" id="{ACD19B2A-C441-0D9E-7106-7B96E8751E05}"/>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399675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0110-51AF-7502-51AC-6C218D29466E}"/>
              </a:ext>
            </a:extLst>
          </p:cNvPr>
          <p:cNvSpPr>
            <a:spLocks noGrp="1"/>
          </p:cNvSpPr>
          <p:nvPr>
            <p:ph type="title"/>
          </p:nvPr>
        </p:nvSpPr>
        <p:spPr>
          <a:xfrm>
            <a:off x="838199" y="251203"/>
            <a:ext cx="10515600" cy="1325563"/>
          </a:xfrm>
        </p:spPr>
        <p:txBody>
          <a:bodyPr/>
          <a:lstStyle/>
          <a:p>
            <a:r>
              <a:rPr lang="en-IN" b="1" dirty="0">
                <a:latin typeface="Times New Roman" panose="02020603050405020304" pitchFamily="18" charset="0"/>
                <a:cs typeface="Times New Roman" panose="02020603050405020304" pitchFamily="18" charset="0"/>
              </a:rPr>
              <a:t>Methodology and Proposed Solution</a:t>
            </a:r>
          </a:p>
        </p:txBody>
      </p:sp>
      <p:sp>
        <p:nvSpPr>
          <p:cNvPr id="4" name="Date Placeholder 3">
            <a:extLst>
              <a:ext uri="{FF2B5EF4-FFF2-40B4-BE49-F238E27FC236}">
                <a16:creationId xmlns:a16="http://schemas.microsoft.com/office/drawing/2014/main" id="{DCDECD8A-E1BD-594A-43F2-927C69F9EE94}"/>
              </a:ext>
            </a:extLst>
          </p:cNvPr>
          <p:cNvSpPr>
            <a:spLocks noGrp="1"/>
          </p:cNvSpPr>
          <p:nvPr>
            <p:ph type="dt" sz="half" idx="10"/>
          </p:nvPr>
        </p:nvSpPr>
        <p:spPr/>
        <p:txBody>
          <a:bodyPr/>
          <a:lstStyle/>
          <a:p>
            <a:fld id="{2CB2E081-F1B4-4E58-B59A-DB5EA8636B00}" type="datetime1">
              <a:rPr lang="en-IN" smtClean="0"/>
              <a:t>15-10-2025</a:t>
            </a:fld>
            <a:endParaRPr lang="en-IN"/>
          </a:p>
        </p:txBody>
      </p:sp>
      <p:sp>
        <p:nvSpPr>
          <p:cNvPr id="6" name="Slide Number Placeholder 5">
            <a:extLst>
              <a:ext uri="{FF2B5EF4-FFF2-40B4-BE49-F238E27FC236}">
                <a16:creationId xmlns:a16="http://schemas.microsoft.com/office/drawing/2014/main" id="{CED32E1F-EF2A-2160-FDB2-EBCAAA8B286D}"/>
              </a:ext>
            </a:extLst>
          </p:cNvPr>
          <p:cNvSpPr>
            <a:spLocks noGrp="1"/>
          </p:cNvSpPr>
          <p:nvPr>
            <p:ph type="sldNum" sz="quarter" idx="12"/>
          </p:nvPr>
        </p:nvSpPr>
        <p:spPr/>
        <p:txBody>
          <a:bodyPr/>
          <a:lstStyle/>
          <a:p>
            <a:fld id="{47526DCF-DF60-4378-BFCC-D3A207344837}" type="slidenum">
              <a:rPr lang="en-IN" smtClean="0"/>
              <a:t>9</a:t>
            </a:fld>
            <a:endParaRPr lang="en-IN"/>
          </a:p>
        </p:txBody>
      </p:sp>
      <p:pic>
        <p:nvPicPr>
          <p:cNvPr id="7" name="Picture 6">
            <a:extLst>
              <a:ext uri="{FF2B5EF4-FFF2-40B4-BE49-F238E27FC236}">
                <a16:creationId xmlns:a16="http://schemas.microsoft.com/office/drawing/2014/main" id="{47455531-B105-0A5A-DABC-0003636C72C3}"/>
              </a:ext>
            </a:extLst>
          </p:cNvPr>
          <p:cNvPicPr>
            <a:picLocks noChangeAspect="1"/>
          </p:cNvPicPr>
          <p:nvPr/>
        </p:nvPicPr>
        <p:blipFill>
          <a:blip r:embed="rId2"/>
          <a:stretch>
            <a:fillRect/>
          </a:stretch>
        </p:blipFill>
        <p:spPr>
          <a:xfrm>
            <a:off x="10548701" y="308164"/>
            <a:ext cx="749873" cy="512108"/>
          </a:xfrm>
          <a:prstGeom prst="rect">
            <a:avLst/>
          </a:prstGeom>
        </p:spPr>
      </p:pic>
      <p:sp>
        <p:nvSpPr>
          <p:cNvPr id="12" name="TextBox 11">
            <a:extLst>
              <a:ext uri="{FF2B5EF4-FFF2-40B4-BE49-F238E27FC236}">
                <a16:creationId xmlns:a16="http://schemas.microsoft.com/office/drawing/2014/main" id="{A49E33C0-BC13-87FE-6462-AE4B3715F6EA}"/>
              </a:ext>
            </a:extLst>
          </p:cNvPr>
          <p:cNvSpPr txBox="1"/>
          <p:nvPr/>
        </p:nvSpPr>
        <p:spPr>
          <a:xfrm>
            <a:off x="355600" y="1107077"/>
            <a:ext cx="2301073" cy="523220"/>
          </a:xfrm>
          <a:prstGeom prst="rect">
            <a:avLst/>
          </a:prstGeom>
          <a:noFill/>
        </p:spPr>
        <p:txBody>
          <a:bodyPr wrap="square" rtlCol="0">
            <a:spAutoFit/>
          </a:bodyPr>
          <a:lstStyle/>
          <a:p>
            <a:r>
              <a:rPr lang="en-IN" sz="2800" b="1" dirty="0"/>
              <a:t>Flowchart:</a:t>
            </a:r>
          </a:p>
        </p:txBody>
      </p:sp>
      <p:sp>
        <p:nvSpPr>
          <p:cNvPr id="14" name="Content Placeholder 13">
            <a:extLst>
              <a:ext uri="{FF2B5EF4-FFF2-40B4-BE49-F238E27FC236}">
                <a16:creationId xmlns:a16="http://schemas.microsoft.com/office/drawing/2014/main" id="{2C19A9F6-27DD-2CB2-5FA1-DB6A7981145F}"/>
              </a:ext>
            </a:extLst>
          </p:cNvPr>
          <p:cNvSpPr>
            <a:spLocks noGrp="1"/>
          </p:cNvSpPr>
          <p:nvPr>
            <p:ph idx="1"/>
          </p:nvPr>
        </p:nvSpPr>
        <p:spPr>
          <a:xfrm>
            <a:off x="518161" y="1737358"/>
            <a:ext cx="6700520" cy="4565461"/>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Input:</a:t>
            </a:r>
          </a:p>
          <a:p>
            <a:pPr marL="0" indent="0">
              <a:buNone/>
            </a:pPr>
            <a:r>
              <a:rPr lang="en-IN" sz="2400" dirty="0">
                <a:latin typeface="Times New Roman" panose="02020603050405020304" pitchFamily="18" charset="0"/>
                <a:cs typeface="Times New Roman" panose="02020603050405020304" pitchFamily="18" charset="0"/>
              </a:rPr>
              <a:t> User text/voice, functional requirements, accessibility needs.</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Processing:</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Frontend/backend development, TTS &amp; STT integration.</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Recognition:</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STT speech recognition, accessibility testing, user feedback analysis.</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Output:</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Audio/text responses, accessibility reports, deployed system with user guides.</a:t>
            </a:r>
          </a:p>
        </p:txBody>
      </p:sp>
      <p:pic>
        <p:nvPicPr>
          <p:cNvPr id="1026" name="Picture 2">
            <a:extLst>
              <a:ext uri="{FF2B5EF4-FFF2-40B4-BE49-F238E27FC236}">
                <a16:creationId xmlns:a16="http://schemas.microsoft.com/office/drawing/2014/main" id="{58F50213-B52F-CC91-65B0-725BCAF5D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366541"/>
            <a:ext cx="4885894" cy="5307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86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08D49-10AC-9C01-4FAD-F7330B269D02}"/>
              </a:ext>
            </a:extLst>
          </p:cNvPr>
          <p:cNvSpPr>
            <a:spLocks noGrp="1"/>
          </p:cNvSpPr>
          <p:nvPr>
            <p:ph type="title"/>
          </p:nvPr>
        </p:nvSpPr>
        <p:spPr>
          <a:xfrm>
            <a:off x="408037" y="277147"/>
            <a:ext cx="10515600" cy="1325563"/>
          </a:xfrm>
        </p:spPr>
        <p:txBody>
          <a:bodyPr/>
          <a:lstStyle/>
          <a:p>
            <a:r>
              <a:rPr lang="en-IN" b="1" dirty="0">
                <a:latin typeface="Times New Roman" panose="02020603050405020304" pitchFamily="18" charset="0"/>
                <a:cs typeface="Times New Roman" panose="02020603050405020304" pitchFamily="18" charset="0"/>
              </a:rPr>
              <a:t>Methodology and Proposed Solution(cont.)</a:t>
            </a:r>
            <a:endParaRPr lang="en-IN" dirty="0"/>
          </a:p>
        </p:txBody>
      </p:sp>
      <p:sp>
        <p:nvSpPr>
          <p:cNvPr id="3" name="Content Placeholder 2">
            <a:extLst>
              <a:ext uri="{FF2B5EF4-FFF2-40B4-BE49-F238E27FC236}">
                <a16:creationId xmlns:a16="http://schemas.microsoft.com/office/drawing/2014/main" id="{C22BDB66-F142-AB58-0A08-67AF99A00E2E}"/>
              </a:ext>
            </a:extLst>
          </p:cNvPr>
          <p:cNvSpPr>
            <a:spLocks noGrp="1"/>
          </p:cNvSpPr>
          <p:nvPr>
            <p:ph idx="1"/>
          </p:nvPr>
        </p:nvSpPr>
        <p:spPr>
          <a:xfrm>
            <a:off x="595506" y="1333256"/>
            <a:ext cx="10515600" cy="4351338"/>
          </a:xfrm>
        </p:spPr>
        <p:txBody>
          <a:bodyPr/>
          <a:lstStyle/>
          <a:p>
            <a:pPr marL="0" indent="0">
              <a:buNone/>
            </a:pPr>
            <a:r>
              <a:rPr lang="en-IN" b="1" dirty="0">
                <a:latin typeface="Times New Roman" panose="02020603050405020304" pitchFamily="18" charset="0"/>
                <a:cs typeface="Times New Roman" panose="02020603050405020304" pitchFamily="18" charset="0"/>
              </a:rPr>
              <a:t>Block Diagram</a:t>
            </a:r>
          </a:p>
        </p:txBody>
      </p:sp>
      <p:sp>
        <p:nvSpPr>
          <p:cNvPr id="4" name="Date Placeholder 3">
            <a:extLst>
              <a:ext uri="{FF2B5EF4-FFF2-40B4-BE49-F238E27FC236}">
                <a16:creationId xmlns:a16="http://schemas.microsoft.com/office/drawing/2014/main" id="{C6CC0D40-7F04-03A5-2DCE-D25BBBF6B8BA}"/>
              </a:ext>
            </a:extLst>
          </p:cNvPr>
          <p:cNvSpPr>
            <a:spLocks noGrp="1"/>
          </p:cNvSpPr>
          <p:nvPr>
            <p:ph type="dt" sz="half" idx="10"/>
          </p:nvPr>
        </p:nvSpPr>
        <p:spPr/>
        <p:txBody>
          <a:bodyPr/>
          <a:lstStyle/>
          <a:p>
            <a:fld id="{57D3F38D-1EB3-4DB2-A750-823A1A97BFA2}" type="datetime1">
              <a:rPr lang="en-IN" smtClean="0"/>
              <a:t>15-10-2025</a:t>
            </a:fld>
            <a:endParaRPr lang="en-IN"/>
          </a:p>
        </p:txBody>
      </p:sp>
      <p:sp>
        <p:nvSpPr>
          <p:cNvPr id="6" name="Slide Number Placeholder 5">
            <a:extLst>
              <a:ext uri="{FF2B5EF4-FFF2-40B4-BE49-F238E27FC236}">
                <a16:creationId xmlns:a16="http://schemas.microsoft.com/office/drawing/2014/main" id="{7B549A0E-E589-F2DF-8882-F3F874F4C3EB}"/>
              </a:ext>
            </a:extLst>
          </p:cNvPr>
          <p:cNvSpPr>
            <a:spLocks noGrp="1"/>
          </p:cNvSpPr>
          <p:nvPr>
            <p:ph type="sldNum" sz="quarter" idx="12"/>
          </p:nvPr>
        </p:nvSpPr>
        <p:spPr/>
        <p:txBody>
          <a:bodyPr/>
          <a:lstStyle/>
          <a:p>
            <a:fld id="{47526DCF-DF60-4378-BFCC-D3A207344837}" type="slidenum">
              <a:rPr lang="en-IN" smtClean="0"/>
              <a:t>10</a:t>
            </a:fld>
            <a:endParaRPr lang="en-IN"/>
          </a:p>
        </p:txBody>
      </p:sp>
      <p:pic>
        <p:nvPicPr>
          <p:cNvPr id="7" name="Picture 6">
            <a:extLst>
              <a:ext uri="{FF2B5EF4-FFF2-40B4-BE49-F238E27FC236}">
                <a16:creationId xmlns:a16="http://schemas.microsoft.com/office/drawing/2014/main" id="{D2EE2B60-1C15-28B0-81AB-87EB275F14A8}"/>
              </a:ext>
            </a:extLst>
          </p:cNvPr>
          <p:cNvPicPr>
            <a:picLocks noChangeAspect="1"/>
          </p:cNvPicPr>
          <p:nvPr/>
        </p:nvPicPr>
        <p:blipFill>
          <a:blip r:embed="rId2"/>
          <a:stretch>
            <a:fillRect/>
          </a:stretch>
        </p:blipFill>
        <p:spPr>
          <a:xfrm>
            <a:off x="10548701" y="308164"/>
            <a:ext cx="749873" cy="512108"/>
          </a:xfrm>
          <a:prstGeom prst="rect">
            <a:avLst/>
          </a:prstGeom>
        </p:spPr>
      </p:pic>
      <p:pic>
        <p:nvPicPr>
          <p:cNvPr id="16" name="Picture 15" descr="A screen shot of a computer&#10;&#10;AI-generated content may be incorrect.">
            <a:extLst>
              <a:ext uri="{FF2B5EF4-FFF2-40B4-BE49-F238E27FC236}">
                <a16:creationId xmlns:a16="http://schemas.microsoft.com/office/drawing/2014/main" id="{1F9C3789-0016-7A9E-2288-16944A6EFB4C}"/>
              </a:ext>
            </a:extLst>
          </p:cNvPr>
          <p:cNvPicPr>
            <a:picLocks noChangeAspect="1"/>
          </p:cNvPicPr>
          <p:nvPr/>
        </p:nvPicPr>
        <p:blipFill>
          <a:blip r:embed="rId3">
            <a:extLst>
              <a:ext uri="{28A0092B-C50C-407E-A947-70E740481C1C}">
                <a14:useLocalDpi xmlns:a14="http://schemas.microsoft.com/office/drawing/2010/main" val="0"/>
              </a:ext>
            </a:extLst>
          </a:blip>
          <a:srcRect r="1182" b="7870"/>
          <a:stretch>
            <a:fillRect/>
          </a:stretch>
        </p:blipFill>
        <p:spPr>
          <a:xfrm>
            <a:off x="501771" y="1069789"/>
            <a:ext cx="10703069" cy="5147727"/>
          </a:xfrm>
          <a:prstGeom prst="rect">
            <a:avLst/>
          </a:prstGeom>
        </p:spPr>
      </p:pic>
    </p:spTree>
    <p:extLst>
      <p:ext uri="{BB962C8B-B14F-4D97-AF65-F5344CB8AC3E}">
        <p14:creationId xmlns:p14="http://schemas.microsoft.com/office/powerpoint/2010/main" val="1039547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637D2-C055-A0AE-76BE-F053AD2C5178}"/>
              </a:ext>
            </a:extLst>
          </p:cNvPr>
          <p:cNvSpPr>
            <a:spLocks noGrp="1"/>
          </p:cNvSpPr>
          <p:nvPr>
            <p:ph type="title"/>
          </p:nvPr>
        </p:nvSpPr>
        <p:spPr>
          <a:xfrm>
            <a:off x="119622" y="-239929"/>
            <a:ext cx="10515600" cy="1325563"/>
          </a:xfrm>
        </p:spPr>
        <p:txBody>
          <a:bodyPr/>
          <a:lstStyle/>
          <a:p>
            <a:r>
              <a:rPr lang="en-IN" b="1"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3093C6ED-3357-EFD8-4B15-44CFEF90AA4E}"/>
              </a:ext>
            </a:extLst>
          </p:cNvPr>
          <p:cNvSpPr>
            <a:spLocks noGrp="1"/>
          </p:cNvSpPr>
          <p:nvPr>
            <p:ph idx="1"/>
          </p:nvPr>
        </p:nvSpPr>
        <p:spPr>
          <a:xfrm>
            <a:off x="1668027" y="820272"/>
            <a:ext cx="11545556" cy="4623466"/>
          </a:xfrm>
        </p:spPr>
        <p:txBody>
          <a:bodyPr>
            <a:normAutofit fontScale="25000" lnSpcReduction="20000"/>
          </a:bodyPr>
          <a:lstStyle/>
          <a:p>
            <a:pPr marL="0" indent="0" algn="l" rtl="0" eaLnBrk="1" latinLnBrk="0" hangingPunct="1">
              <a:lnSpc>
                <a:spcPct val="90000"/>
              </a:lnSpc>
              <a:spcBef>
                <a:spcPts val="1000"/>
              </a:spcBef>
              <a:buNone/>
            </a:pPr>
            <a:r>
              <a:rPr lang="en-IN" sz="8000" b="1" dirty="0">
                <a:latin typeface="Times New Roman" panose="02020603050405020304" pitchFamily="18" charset="0"/>
                <a:cs typeface="Times New Roman" panose="02020603050405020304" pitchFamily="18" charset="0"/>
              </a:rPr>
              <a:t>Link to code</a:t>
            </a:r>
            <a:r>
              <a:rPr lang="en-IN" sz="8000" dirty="0">
                <a:latin typeface="Times New Roman" panose="02020603050405020304" pitchFamily="18" charset="0"/>
                <a:cs typeface="Times New Roman" panose="02020603050405020304" pitchFamily="18" charset="0"/>
              </a:rPr>
              <a:t>: </a:t>
            </a:r>
            <a:r>
              <a:rPr lang="en-IN" sz="6000" dirty="0">
                <a:latin typeface="Times New Roman" panose="02020603050405020304" pitchFamily="18" charset="0"/>
                <a:cs typeface="Times New Roman" panose="02020603050405020304" pitchFamily="18" charset="0"/>
                <a:hlinkClick r:id="rId2"/>
              </a:rPr>
              <a:t>https://github.com/23331a4722/voiceed.git</a:t>
            </a:r>
            <a:r>
              <a:rPr lang="en-IN" sz="6000" dirty="0">
                <a:latin typeface="Times New Roman" panose="02020603050405020304" pitchFamily="18" charset="0"/>
                <a:cs typeface="Times New Roman" panose="02020603050405020304" pitchFamily="18" charset="0"/>
              </a:rPr>
              <a:t>,</a:t>
            </a:r>
            <a:r>
              <a:rPr lang="en-IN" sz="6000" kern="1200" dirty="0">
                <a:solidFill>
                  <a:srgbClr val="000000"/>
                </a:solidFill>
                <a:effectLst/>
                <a:latin typeface="Times New Roman" panose="02020603050405020304" pitchFamily="18" charset="0"/>
                <a:ea typeface="+mn-ea"/>
                <a:cs typeface="Times New Roman" panose="02020603050405020304" pitchFamily="18" charset="0"/>
              </a:rPr>
              <a:t> https://iijayfukdbujy8mloqt7.share.dreamflow.app/</a:t>
            </a:r>
            <a:endParaRPr lang="en-IN" sz="6000" dirty="0">
              <a:latin typeface="Times New Roman" panose="02020603050405020304" pitchFamily="18" charset="0"/>
              <a:cs typeface="Times New Roman" panose="02020603050405020304" pitchFamily="18" charset="0"/>
            </a:endParaRPr>
          </a:p>
          <a:p>
            <a:pPr marL="0" indent="0">
              <a:buNone/>
            </a:pPr>
            <a:r>
              <a:rPr lang="en-IN" sz="8000" b="1" dirty="0">
                <a:latin typeface="Times New Roman" panose="02020603050405020304" pitchFamily="18" charset="0"/>
                <a:cs typeface="Times New Roman" panose="02020603050405020304" pitchFamily="18" charset="0"/>
              </a:rPr>
              <a:t>Key snippet:</a:t>
            </a:r>
          </a:p>
          <a:p>
            <a:pPr marL="0" indent="0">
              <a:buNone/>
            </a:pPr>
            <a:r>
              <a:rPr lang="en-IN" sz="9600" b="1" dirty="0">
                <a:latin typeface="Times New Roman" panose="02020603050405020304" pitchFamily="18" charset="0"/>
                <a:cs typeface="Times New Roman" panose="02020603050405020304" pitchFamily="18" charset="0"/>
              </a:rPr>
              <a:t> Tech Stack Diagram</a:t>
            </a:r>
          </a:p>
          <a:p>
            <a:pPr marL="0" indent="0">
              <a:buNone/>
            </a:pPr>
            <a:r>
              <a:rPr lang="en-IN" sz="8000" b="1" dirty="0">
                <a:latin typeface="Times New Roman" panose="02020603050405020304" pitchFamily="18" charset="0"/>
                <a:cs typeface="Times New Roman" panose="02020603050405020304" pitchFamily="18" charset="0"/>
              </a:rPr>
              <a:t> Frontend (Client App)</a:t>
            </a:r>
            <a:endParaRPr lang="en-IN" sz="8000" dirty="0">
              <a:latin typeface="Times New Roman" panose="02020603050405020304" pitchFamily="18" charset="0"/>
              <a:cs typeface="Times New Roman" panose="02020603050405020304" pitchFamily="18" charset="0"/>
            </a:endParaRPr>
          </a:p>
          <a:p>
            <a:r>
              <a:rPr lang="en-IN" sz="7200" b="1" dirty="0">
                <a:latin typeface="Times New Roman" panose="02020603050405020304" pitchFamily="18" charset="0"/>
                <a:cs typeface="Times New Roman" panose="02020603050405020304" pitchFamily="18" charset="0"/>
              </a:rPr>
              <a:t>Framework:</a:t>
            </a:r>
            <a:r>
              <a:rPr lang="en-IN" sz="7200" dirty="0">
                <a:latin typeface="Times New Roman" panose="02020603050405020304" pitchFamily="18" charset="0"/>
                <a:cs typeface="Times New Roman" panose="02020603050405020304" pitchFamily="18" charset="0"/>
              </a:rPr>
              <a:t> Flutter</a:t>
            </a:r>
          </a:p>
          <a:p>
            <a:r>
              <a:rPr lang="en-IN" sz="7200" b="1" dirty="0">
                <a:latin typeface="Times New Roman" panose="02020603050405020304" pitchFamily="18" charset="0"/>
                <a:cs typeface="Times New Roman" panose="02020603050405020304" pitchFamily="18" charset="0"/>
              </a:rPr>
              <a:t>Language:</a:t>
            </a:r>
            <a:r>
              <a:rPr lang="en-IN" sz="7200" dirty="0">
                <a:latin typeface="Times New Roman" panose="02020603050405020304" pitchFamily="18" charset="0"/>
                <a:cs typeface="Times New Roman" panose="02020603050405020304" pitchFamily="18" charset="0"/>
              </a:rPr>
              <a:t> Dart</a:t>
            </a:r>
          </a:p>
          <a:p>
            <a:r>
              <a:rPr lang="en-IN" sz="7200" b="1" dirty="0">
                <a:latin typeface="Times New Roman" panose="02020603050405020304" pitchFamily="18" charset="0"/>
                <a:cs typeface="Times New Roman" panose="02020603050405020304" pitchFamily="18" charset="0"/>
              </a:rPr>
              <a:t>UI Toolkit:</a:t>
            </a:r>
            <a:r>
              <a:rPr lang="en-IN" sz="7200" dirty="0">
                <a:latin typeface="Times New Roman" panose="02020603050405020304" pitchFamily="18" charset="0"/>
                <a:cs typeface="Times New Roman" panose="02020603050405020304" pitchFamily="18" charset="0"/>
              </a:rPr>
              <a:t> Material Design</a:t>
            </a:r>
          </a:p>
          <a:p>
            <a:r>
              <a:rPr lang="en-IN" sz="7200" b="1" dirty="0">
                <a:latin typeface="Times New Roman" panose="02020603050405020304" pitchFamily="18" charset="0"/>
                <a:cs typeface="Times New Roman" panose="02020603050405020304" pitchFamily="18" charset="0"/>
              </a:rPr>
              <a:t>Pages:</a:t>
            </a:r>
            <a:r>
              <a:rPr lang="en-IN" sz="7200" dirty="0">
                <a:latin typeface="Times New Roman" panose="02020603050405020304" pitchFamily="18" charset="0"/>
                <a:cs typeface="Times New Roman" panose="02020603050405020304" pitchFamily="18" charset="0"/>
              </a:rPr>
              <a:t> Dashboard Page, Landing Page</a:t>
            </a:r>
          </a:p>
          <a:p>
            <a:pPr marL="0" indent="0">
              <a:buNone/>
            </a:pPr>
            <a:r>
              <a:rPr lang="en-IN" sz="8000" b="1" dirty="0">
                <a:latin typeface="Times New Roman" panose="02020603050405020304" pitchFamily="18" charset="0"/>
                <a:cs typeface="Times New Roman" panose="02020603050405020304" pitchFamily="18" charset="0"/>
              </a:rPr>
              <a:t>Backend (Services Layer)</a:t>
            </a:r>
            <a:endParaRPr lang="en-IN" sz="8000" dirty="0">
              <a:latin typeface="Times New Roman" panose="02020603050405020304" pitchFamily="18" charset="0"/>
              <a:cs typeface="Times New Roman" panose="02020603050405020304" pitchFamily="18" charset="0"/>
            </a:endParaRPr>
          </a:p>
          <a:p>
            <a:r>
              <a:rPr lang="en-IN" sz="7200" b="1" dirty="0">
                <a:latin typeface="Times New Roman" panose="02020603050405020304" pitchFamily="18" charset="0"/>
                <a:cs typeface="Times New Roman" panose="02020603050405020304" pitchFamily="18" charset="0"/>
              </a:rPr>
              <a:t>Auth Service:</a:t>
            </a:r>
            <a:r>
              <a:rPr lang="en-IN" sz="7200" dirty="0">
                <a:latin typeface="Times New Roman" panose="02020603050405020304" pitchFamily="18" charset="0"/>
                <a:cs typeface="Times New Roman" panose="02020603050405020304" pitchFamily="18" charset="0"/>
              </a:rPr>
              <a:t> Handles user login and authentication</a:t>
            </a:r>
          </a:p>
          <a:p>
            <a:r>
              <a:rPr lang="en-IN" sz="7200" b="1" dirty="0">
                <a:latin typeface="Times New Roman" panose="02020603050405020304" pitchFamily="18" charset="0"/>
                <a:cs typeface="Times New Roman" panose="02020603050405020304" pitchFamily="18" charset="0"/>
              </a:rPr>
              <a:t>Voice Service:</a:t>
            </a:r>
            <a:r>
              <a:rPr lang="en-IN" sz="7200" dirty="0">
                <a:latin typeface="Times New Roman" panose="02020603050405020304" pitchFamily="18" charset="0"/>
                <a:cs typeface="Times New Roman" panose="02020603050405020304" pitchFamily="18" charset="0"/>
              </a:rPr>
              <a:t> Manages Text-to-Speech (TTS) and Speech-to-Text (STT</a:t>
            </a:r>
          </a:p>
          <a:p>
            <a:r>
              <a:rPr lang="en-IN" sz="7200" b="1" dirty="0">
                <a:latin typeface="Times New Roman" panose="02020603050405020304" pitchFamily="18" charset="0"/>
                <a:cs typeface="Times New Roman" panose="02020603050405020304" pitchFamily="18" charset="0"/>
              </a:rPr>
              <a:t>Exam Service:</a:t>
            </a:r>
            <a:r>
              <a:rPr lang="en-IN" sz="7200" dirty="0">
                <a:latin typeface="Times New Roman" panose="02020603050405020304" pitchFamily="18" charset="0"/>
                <a:cs typeface="Times New Roman" panose="02020603050405020304" pitchFamily="18" charset="0"/>
              </a:rPr>
              <a:t> Manages exam data</a:t>
            </a:r>
          </a:p>
          <a:p>
            <a:r>
              <a:rPr lang="en-IN" sz="7200" b="1" dirty="0">
                <a:latin typeface="Times New Roman" panose="02020603050405020304" pitchFamily="18" charset="0"/>
                <a:cs typeface="Times New Roman" panose="02020603050405020304" pitchFamily="18" charset="0"/>
              </a:rPr>
              <a:t>Question Service:</a:t>
            </a:r>
            <a:r>
              <a:rPr lang="en-IN" sz="7200" dirty="0">
                <a:latin typeface="Times New Roman" panose="02020603050405020304" pitchFamily="18" charset="0"/>
                <a:cs typeface="Times New Roman" panose="02020603050405020304" pitchFamily="18" charset="0"/>
              </a:rPr>
              <a:t> Loads and manages questions</a:t>
            </a:r>
          </a:p>
          <a:p>
            <a:r>
              <a:rPr lang="en-IN" sz="7200" b="1" dirty="0">
                <a:latin typeface="Times New Roman" panose="02020603050405020304" pitchFamily="18" charset="0"/>
                <a:cs typeface="Times New Roman" panose="02020603050405020304" pitchFamily="18" charset="0"/>
              </a:rPr>
              <a:t>Exam Attempt Service:</a:t>
            </a:r>
            <a:r>
              <a:rPr lang="en-IN" sz="7200" dirty="0">
                <a:latin typeface="Times New Roman" panose="02020603050405020304" pitchFamily="18" charset="0"/>
                <a:cs typeface="Times New Roman" panose="02020603050405020304" pitchFamily="18" charset="0"/>
              </a:rPr>
              <a:t> Tracks student attempts and responses</a:t>
            </a:r>
          </a:p>
          <a:p>
            <a:pPr marL="0" indent="0">
              <a:buNone/>
            </a:pPr>
            <a:r>
              <a:rPr lang="en-IN" sz="8000" b="1" dirty="0">
                <a:latin typeface="Times New Roman" panose="02020603050405020304" pitchFamily="18" charset="0"/>
                <a:cs typeface="Times New Roman" panose="02020603050405020304" pitchFamily="18" charset="0"/>
              </a:rPr>
              <a:t>Infrastructure</a:t>
            </a:r>
            <a:endParaRPr lang="en-IN" sz="8000" dirty="0">
              <a:latin typeface="Times New Roman" panose="02020603050405020304" pitchFamily="18" charset="0"/>
              <a:cs typeface="Times New Roman" panose="02020603050405020304" pitchFamily="18" charset="0"/>
            </a:endParaRPr>
          </a:p>
          <a:p>
            <a:r>
              <a:rPr lang="en-IN" sz="7200" b="1" dirty="0">
                <a:latin typeface="Times New Roman" panose="02020603050405020304" pitchFamily="18" charset="0"/>
                <a:cs typeface="Times New Roman" panose="02020603050405020304" pitchFamily="18" charset="0"/>
              </a:rPr>
              <a:t>Theme Management:</a:t>
            </a:r>
            <a:r>
              <a:rPr lang="en-IN" sz="7200" dirty="0">
                <a:latin typeface="Times New Roman" panose="02020603050405020304" pitchFamily="18" charset="0"/>
                <a:cs typeface="Times New Roman" panose="02020603050405020304" pitchFamily="18" charset="0"/>
              </a:rPr>
              <a:t>  light Theme  / dark Theme  setup</a:t>
            </a:r>
          </a:p>
          <a:p>
            <a:r>
              <a:rPr lang="en-IN" sz="7200" b="1" dirty="0">
                <a:latin typeface="Times New Roman" panose="02020603050405020304" pitchFamily="18" charset="0"/>
                <a:cs typeface="Times New Roman" panose="02020603050405020304" pitchFamily="18" charset="0"/>
              </a:rPr>
              <a:t>Async Initialization:</a:t>
            </a:r>
            <a:r>
              <a:rPr lang="en-IN" sz="7200" dirty="0">
                <a:latin typeface="Times New Roman" panose="02020603050405020304" pitchFamily="18" charset="0"/>
                <a:cs typeface="Times New Roman" panose="02020603050405020304" pitchFamily="18" charset="0"/>
              </a:rPr>
              <a:t>  Widgets Flutter Binding + async service setup</a:t>
            </a:r>
          </a:p>
          <a:p>
            <a:r>
              <a:rPr lang="en-IN" sz="7200" b="1" dirty="0">
                <a:latin typeface="Times New Roman" panose="02020603050405020304" pitchFamily="18" charset="0"/>
                <a:cs typeface="Times New Roman" panose="02020603050405020304" pitchFamily="18" charset="0"/>
              </a:rPr>
              <a:t>Navigation:</a:t>
            </a:r>
            <a:r>
              <a:rPr lang="en-IN" sz="7200" dirty="0">
                <a:latin typeface="Times New Roman" panose="02020603050405020304" pitchFamily="18" charset="0"/>
                <a:cs typeface="Times New Roman" panose="02020603050405020304" pitchFamily="18" charset="0"/>
              </a:rPr>
              <a:t> Decides between  Dashboard Page or Landing Page based on login status</a:t>
            </a:r>
          </a:p>
          <a:p>
            <a:pPr marL="0" indent="0">
              <a:buNone/>
            </a:pP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DB52C39-8579-8CCB-38A6-30FF6BC37CD5}"/>
              </a:ext>
            </a:extLst>
          </p:cNvPr>
          <p:cNvSpPr>
            <a:spLocks noGrp="1"/>
          </p:cNvSpPr>
          <p:nvPr>
            <p:ph type="dt" sz="half" idx="10"/>
          </p:nvPr>
        </p:nvSpPr>
        <p:spPr/>
        <p:txBody>
          <a:bodyPr/>
          <a:lstStyle/>
          <a:p>
            <a:fld id="{08C8EC51-D8FE-429D-B538-6D42DB567EFC}" type="datetime1">
              <a:rPr lang="en-IN" smtClean="0"/>
              <a:t>15-10-2025</a:t>
            </a:fld>
            <a:endParaRPr lang="en-IN" dirty="0"/>
          </a:p>
        </p:txBody>
      </p:sp>
      <p:sp>
        <p:nvSpPr>
          <p:cNvPr id="6" name="Slide Number Placeholder 5">
            <a:extLst>
              <a:ext uri="{FF2B5EF4-FFF2-40B4-BE49-F238E27FC236}">
                <a16:creationId xmlns:a16="http://schemas.microsoft.com/office/drawing/2014/main" id="{BFB68C94-0F26-D10A-70D2-DF88E6B3A4C2}"/>
              </a:ext>
            </a:extLst>
          </p:cNvPr>
          <p:cNvSpPr>
            <a:spLocks noGrp="1"/>
          </p:cNvSpPr>
          <p:nvPr>
            <p:ph type="sldNum" sz="quarter" idx="12"/>
          </p:nvPr>
        </p:nvSpPr>
        <p:spPr/>
        <p:txBody>
          <a:bodyPr/>
          <a:lstStyle/>
          <a:p>
            <a:fld id="{47526DCF-DF60-4378-BFCC-D3A207344837}" type="slidenum">
              <a:rPr lang="en-IN" smtClean="0"/>
              <a:t>11</a:t>
            </a:fld>
            <a:endParaRPr lang="en-IN"/>
          </a:p>
        </p:txBody>
      </p:sp>
      <p:pic>
        <p:nvPicPr>
          <p:cNvPr id="7" name="Picture 6">
            <a:extLst>
              <a:ext uri="{FF2B5EF4-FFF2-40B4-BE49-F238E27FC236}">
                <a16:creationId xmlns:a16="http://schemas.microsoft.com/office/drawing/2014/main" id="{8F749C58-050E-C167-F540-EC9B39702783}"/>
              </a:ext>
            </a:extLst>
          </p:cNvPr>
          <p:cNvPicPr>
            <a:picLocks noChangeAspect="1"/>
          </p:cNvPicPr>
          <p:nvPr/>
        </p:nvPicPr>
        <p:blipFill>
          <a:blip r:embed="rId3"/>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3098161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43330-2389-679C-2418-3B857FD5C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948E6-715D-2DEC-490D-5A3970C2EA4C}"/>
              </a:ext>
            </a:extLst>
          </p:cNvPr>
          <p:cNvSpPr>
            <a:spLocks noGrp="1"/>
          </p:cNvSpPr>
          <p:nvPr>
            <p:ph type="title"/>
          </p:nvPr>
        </p:nvSpPr>
        <p:spPr>
          <a:xfrm>
            <a:off x="119622" y="-239929"/>
            <a:ext cx="10515600" cy="1325563"/>
          </a:xfrm>
        </p:spPr>
        <p:txBody>
          <a:bodyPr/>
          <a:lstStyle/>
          <a:p>
            <a:r>
              <a:rPr lang="en-IN" b="1" dirty="0">
                <a:latin typeface="Times New Roman" panose="02020603050405020304" pitchFamily="18" charset="0"/>
                <a:cs typeface="Times New Roman" panose="02020603050405020304" pitchFamily="18" charset="0"/>
              </a:rPr>
              <a:t>Implementation</a:t>
            </a:r>
          </a:p>
        </p:txBody>
      </p:sp>
      <p:sp>
        <p:nvSpPr>
          <p:cNvPr id="4" name="Date Placeholder 3">
            <a:extLst>
              <a:ext uri="{FF2B5EF4-FFF2-40B4-BE49-F238E27FC236}">
                <a16:creationId xmlns:a16="http://schemas.microsoft.com/office/drawing/2014/main" id="{E9CE0ACE-6257-A8A9-4669-2E5416D45327}"/>
              </a:ext>
            </a:extLst>
          </p:cNvPr>
          <p:cNvSpPr>
            <a:spLocks noGrp="1"/>
          </p:cNvSpPr>
          <p:nvPr>
            <p:ph type="dt" sz="half" idx="10"/>
          </p:nvPr>
        </p:nvSpPr>
        <p:spPr/>
        <p:txBody>
          <a:bodyPr/>
          <a:lstStyle/>
          <a:p>
            <a:fld id="{08C8EC51-D8FE-429D-B538-6D42DB567EFC}" type="datetime1">
              <a:rPr lang="en-IN" smtClean="0"/>
              <a:t>15-10-2025</a:t>
            </a:fld>
            <a:endParaRPr lang="en-IN"/>
          </a:p>
        </p:txBody>
      </p:sp>
      <p:sp>
        <p:nvSpPr>
          <p:cNvPr id="6" name="Slide Number Placeholder 5">
            <a:extLst>
              <a:ext uri="{FF2B5EF4-FFF2-40B4-BE49-F238E27FC236}">
                <a16:creationId xmlns:a16="http://schemas.microsoft.com/office/drawing/2014/main" id="{6CFC2574-C3D2-6C52-159B-5C7342F4FCD1}"/>
              </a:ext>
            </a:extLst>
          </p:cNvPr>
          <p:cNvSpPr>
            <a:spLocks noGrp="1"/>
          </p:cNvSpPr>
          <p:nvPr>
            <p:ph type="sldNum" sz="quarter" idx="12"/>
          </p:nvPr>
        </p:nvSpPr>
        <p:spPr/>
        <p:txBody>
          <a:bodyPr/>
          <a:lstStyle/>
          <a:p>
            <a:fld id="{47526DCF-DF60-4378-BFCC-D3A207344837}" type="slidenum">
              <a:rPr lang="en-IN" smtClean="0"/>
              <a:t>12</a:t>
            </a:fld>
            <a:endParaRPr lang="en-IN"/>
          </a:p>
        </p:txBody>
      </p:sp>
      <p:pic>
        <p:nvPicPr>
          <p:cNvPr id="7" name="Picture 6">
            <a:extLst>
              <a:ext uri="{FF2B5EF4-FFF2-40B4-BE49-F238E27FC236}">
                <a16:creationId xmlns:a16="http://schemas.microsoft.com/office/drawing/2014/main" id="{D075BC24-D59F-4AF0-5EC5-0E0B0DE0DD9C}"/>
              </a:ext>
            </a:extLst>
          </p:cNvPr>
          <p:cNvPicPr>
            <a:picLocks noChangeAspect="1"/>
          </p:cNvPicPr>
          <p:nvPr/>
        </p:nvPicPr>
        <p:blipFill>
          <a:blip r:embed="rId2"/>
          <a:stretch>
            <a:fillRect/>
          </a:stretch>
        </p:blipFill>
        <p:spPr>
          <a:xfrm>
            <a:off x="10548701" y="308164"/>
            <a:ext cx="749873" cy="512108"/>
          </a:xfrm>
          <a:prstGeom prst="rect">
            <a:avLst/>
          </a:prstGeom>
        </p:spPr>
      </p:pic>
      <p:pic>
        <p:nvPicPr>
          <p:cNvPr id="11" name="Content Placeholder 10" descr="A screen shot of a computer code&#10;&#10;AI-generated content may be incorrect.">
            <a:extLst>
              <a:ext uri="{FF2B5EF4-FFF2-40B4-BE49-F238E27FC236}">
                <a16:creationId xmlns:a16="http://schemas.microsoft.com/office/drawing/2014/main" id="{F0BC3400-9202-39D6-7412-D66CF960F5A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35310" y="857326"/>
            <a:ext cx="6521381" cy="5864149"/>
          </a:xfrm>
        </p:spPr>
      </p:pic>
    </p:spTree>
    <p:extLst>
      <p:ext uri="{BB962C8B-B14F-4D97-AF65-F5344CB8AC3E}">
        <p14:creationId xmlns:p14="http://schemas.microsoft.com/office/powerpoint/2010/main" val="1404831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AB7D-6F03-4630-46A2-BB97B39DB44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 (Full) / Screenshots </a:t>
            </a:r>
          </a:p>
        </p:txBody>
      </p:sp>
      <p:pic>
        <p:nvPicPr>
          <p:cNvPr id="8" name="Content Placeholder 7" descr="A screenshot of a computer&#10;&#10;AI-generated content may be incorrect.">
            <a:extLst>
              <a:ext uri="{FF2B5EF4-FFF2-40B4-BE49-F238E27FC236}">
                <a16:creationId xmlns:a16="http://schemas.microsoft.com/office/drawing/2014/main" id="{4990D046-B3E4-C6D5-CB63-A2E0CEF13A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528" y="1827835"/>
            <a:ext cx="5428854" cy="3387260"/>
          </a:xfrm>
        </p:spPr>
      </p:pic>
      <p:sp>
        <p:nvSpPr>
          <p:cNvPr id="4" name="Date Placeholder 3">
            <a:extLst>
              <a:ext uri="{FF2B5EF4-FFF2-40B4-BE49-F238E27FC236}">
                <a16:creationId xmlns:a16="http://schemas.microsoft.com/office/drawing/2014/main" id="{53A20085-5E2E-0801-C48C-3123AE6D0BA8}"/>
              </a:ext>
            </a:extLst>
          </p:cNvPr>
          <p:cNvSpPr>
            <a:spLocks noGrp="1"/>
          </p:cNvSpPr>
          <p:nvPr>
            <p:ph type="dt" sz="half" idx="10"/>
          </p:nvPr>
        </p:nvSpPr>
        <p:spPr/>
        <p:txBody>
          <a:bodyPr/>
          <a:lstStyle/>
          <a:p>
            <a:fld id="{0FE5F299-9D72-47F9-8A7A-EFB8E8F8EF9B}" type="datetime1">
              <a:rPr lang="en-IN" smtClean="0"/>
              <a:t>15-10-2025</a:t>
            </a:fld>
            <a:endParaRPr lang="en-IN"/>
          </a:p>
        </p:txBody>
      </p:sp>
      <p:sp>
        <p:nvSpPr>
          <p:cNvPr id="6" name="Slide Number Placeholder 5">
            <a:extLst>
              <a:ext uri="{FF2B5EF4-FFF2-40B4-BE49-F238E27FC236}">
                <a16:creationId xmlns:a16="http://schemas.microsoft.com/office/drawing/2014/main" id="{00DA51D1-6CB3-B4F9-1515-CA9758CD2DDA}"/>
              </a:ext>
            </a:extLst>
          </p:cNvPr>
          <p:cNvSpPr>
            <a:spLocks noGrp="1"/>
          </p:cNvSpPr>
          <p:nvPr>
            <p:ph type="sldNum" sz="quarter" idx="12"/>
          </p:nvPr>
        </p:nvSpPr>
        <p:spPr/>
        <p:txBody>
          <a:bodyPr/>
          <a:lstStyle/>
          <a:p>
            <a:fld id="{47526DCF-DF60-4378-BFCC-D3A207344837}" type="slidenum">
              <a:rPr lang="en-IN" smtClean="0"/>
              <a:t>13</a:t>
            </a:fld>
            <a:endParaRPr lang="en-IN"/>
          </a:p>
        </p:txBody>
      </p:sp>
      <p:pic>
        <p:nvPicPr>
          <p:cNvPr id="7" name="Picture 6">
            <a:extLst>
              <a:ext uri="{FF2B5EF4-FFF2-40B4-BE49-F238E27FC236}">
                <a16:creationId xmlns:a16="http://schemas.microsoft.com/office/drawing/2014/main" id="{80B5200B-2A92-C9A6-5CEB-13FAC4B8F49E}"/>
              </a:ext>
            </a:extLst>
          </p:cNvPr>
          <p:cNvPicPr>
            <a:picLocks noChangeAspect="1"/>
          </p:cNvPicPr>
          <p:nvPr/>
        </p:nvPicPr>
        <p:blipFill>
          <a:blip r:embed="rId3"/>
          <a:stretch>
            <a:fillRect/>
          </a:stretch>
        </p:blipFill>
        <p:spPr>
          <a:xfrm>
            <a:off x="10548701" y="308164"/>
            <a:ext cx="749873" cy="512108"/>
          </a:xfrm>
          <a:prstGeom prst="rect">
            <a:avLst/>
          </a:prstGeom>
        </p:spPr>
      </p:pic>
      <p:pic>
        <p:nvPicPr>
          <p:cNvPr id="10" name="Picture 9" descr="A screenshot of a login form&#10;&#10;AI-generated content may be incorrect.">
            <a:extLst>
              <a:ext uri="{FF2B5EF4-FFF2-40B4-BE49-F238E27FC236}">
                <a16:creationId xmlns:a16="http://schemas.microsoft.com/office/drawing/2014/main" id="{690AB742-C91B-5104-D3FE-3E4598D503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620" y="1831282"/>
            <a:ext cx="5297130" cy="3383813"/>
          </a:xfrm>
          <a:prstGeom prst="rect">
            <a:avLst/>
          </a:prstGeom>
        </p:spPr>
      </p:pic>
    </p:spTree>
    <p:extLst>
      <p:ext uri="{BB962C8B-B14F-4D97-AF65-F5344CB8AC3E}">
        <p14:creationId xmlns:p14="http://schemas.microsoft.com/office/powerpoint/2010/main" val="80023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9411-6A88-C07D-EB9D-0C609F387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73744-FE14-78D9-8672-0FF958CB5C7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 (Full) / Screenshots </a:t>
            </a:r>
          </a:p>
        </p:txBody>
      </p:sp>
      <p:sp>
        <p:nvSpPr>
          <p:cNvPr id="4" name="Date Placeholder 3">
            <a:extLst>
              <a:ext uri="{FF2B5EF4-FFF2-40B4-BE49-F238E27FC236}">
                <a16:creationId xmlns:a16="http://schemas.microsoft.com/office/drawing/2014/main" id="{3472F0D8-075C-2FD7-3911-6A578270AF74}"/>
              </a:ext>
            </a:extLst>
          </p:cNvPr>
          <p:cNvSpPr>
            <a:spLocks noGrp="1"/>
          </p:cNvSpPr>
          <p:nvPr>
            <p:ph type="dt" sz="half" idx="10"/>
          </p:nvPr>
        </p:nvSpPr>
        <p:spPr/>
        <p:txBody>
          <a:bodyPr/>
          <a:lstStyle/>
          <a:p>
            <a:fld id="{0FE5F299-9D72-47F9-8A7A-EFB8E8F8EF9B}" type="datetime1">
              <a:rPr lang="en-IN" smtClean="0"/>
              <a:t>15-10-2025</a:t>
            </a:fld>
            <a:endParaRPr lang="en-IN"/>
          </a:p>
        </p:txBody>
      </p:sp>
      <p:sp>
        <p:nvSpPr>
          <p:cNvPr id="6" name="Slide Number Placeholder 5">
            <a:extLst>
              <a:ext uri="{FF2B5EF4-FFF2-40B4-BE49-F238E27FC236}">
                <a16:creationId xmlns:a16="http://schemas.microsoft.com/office/drawing/2014/main" id="{6BA039AA-A8D5-FB0F-2364-0A6007A4ACD5}"/>
              </a:ext>
            </a:extLst>
          </p:cNvPr>
          <p:cNvSpPr>
            <a:spLocks noGrp="1"/>
          </p:cNvSpPr>
          <p:nvPr>
            <p:ph type="sldNum" sz="quarter" idx="12"/>
          </p:nvPr>
        </p:nvSpPr>
        <p:spPr/>
        <p:txBody>
          <a:bodyPr/>
          <a:lstStyle/>
          <a:p>
            <a:fld id="{47526DCF-DF60-4378-BFCC-D3A207344837}" type="slidenum">
              <a:rPr lang="en-IN" smtClean="0"/>
              <a:t>14</a:t>
            </a:fld>
            <a:endParaRPr lang="en-IN"/>
          </a:p>
        </p:txBody>
      </p:sp>
      <p:pic>
        <p:nvPicPr>
          <p:cNvPr id="7" name="Picture 6">
            <a:extLst>
              <a:ext uri="{FF2B5EF4-FFF2-40B4-BE49-F238E27FC236}">
                <a16:creationId xmlns:a16="http://schemas.microsoft.com/office/drawing/2014/main" id="{C71C2F03-D2B5-4583-AB37-401911A6C6E2}"/>
              </a:ext>
            </a:extLst>
          </p:cNvPr>
          <p:cNvPicPr>
            <a:picLocks noChangeAspect="1"/>
          </p:cNvPicPr>
          <p:nvPr/>
        </p:nvPicPr>
        <p:blipFill>
          <a:blip r:embed="rId2"/>
          <a:stretch>
            <a:fillRect/>
          </a:stretch>
        </p:blipFill>
        <p:spPr>
          <a:xfrm>
            <a:off x="10548701" y="308164"/>
            <a:ext cx="749873" cy="512108"/>
          </a:xfrm>
          <a:prstGeom prst="rect">
            <a:avLst/>
          </a:prstGeom>
        </p:spPr>
      </p:pic>
      <p:pic>
        <p:nvPicPr>
          <p:cNvPr id="11" name="Content Placeholder 10" descr="A screenshot of a computer&#10;&#10;AI-generated content may be incorrect.">
            <a:extLst>
              <a:ext uri="{FF2B5EF4-FFF2-40B4-BE49-F238E27FC236}">
                <a16:creationId xmlns:a16="http://schemas.microsoft.com/office/drawing/2014/main" id="{777C8DF5-C0FC-5F95-2FF5-8D24BB264B1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1242" y="1895917"/>
            <a:ext cx="5687479" cy="3319178"/>
          </a:xfrm>
        </p:spPr>
      </p:pic>
      <p:pic>
        <p:nvPicPr>
          <p:cNvPr id="13" name="Picture 12" descr="A screenshot of a computer&#10;&#10;AI-generated content may be incorrect.">
            <a:extLst>
              <a:ext uri="{FF2B5EF4-FFF2-40B4-BE49-F238E27FC236}">
                <a16:creationId xmlns:a16="http://schemas.microsoft.com/office/drawing/2014/main" id="{F7B67669-4AD4-EECC-3786-8EA38CD774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3279" y="1895917"/>
            <a:ext cx="5687477" cy="3305846"/>
          </a:xfrm>
          <a:prstGeom prst="rect">
            <a:avLst/>
          </a:prstGeom>
        </p:spPr>
      </p:pic>
    </p:spTree>
    <p:extLst>
      <p:ext uri="{BB962C8B-B14F-4D97-AF65-F5344CB8AC3E}">
        <p14:creationId xmlns:p14="http://schemas.microsoft.com/office/powerpoint/2010/main" val="755805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2C339-7109-22A2-C449-4EAB8CD8D47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Impact Assessment </a:t>
            </a:r>
          </a:p>
        </p:txBody>
      </p:sp>
      <p:sp>
        <p:nvSpPr>
          <p:cNvPr id="3" name="Content Placeholder 2">
            <a:extLst>
              <a:ext uri="{FF2B5EF4-FFF2-40B4-BE49-F238E27FC236}">
                <a16:creationId xmlns:a16="http://schemas.microsoft.com/office/drawing/2014/main" id="{98FE307A-6D64-2169-AE94-D06854DB76D5}"/>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Qualitative Impact:</a:t>
            </a:r>
          </a:p>
          <a:p>
            <a:r>
              <a:rPr lang="en-US" sz="2400" dirty="0">
                <a:latin typeface="Times New Roman" panose="02020603050405020304" pitchFamily="18" charset="0"/>
                <a:cs typeface="Times New Roman" panose="02020603050405020304" pitchFamily="18" charset="0"/>
              </a:rPr>
              <a:t>Promotes inclusivity and equality in education.</a:t>
            </a:r>
          </a:p>
          <a:p>
            <a:r>
              <a:rPr lang="en-US" sz="2400" dirty="0">
                <a:latin typeface="Times New Roman" panose="02020603050405020304" pitchFamily="18" charset="0"/>
                <a:cs typeface="Times New Roman" panose="02020603050405020304" pitchFamily="18" charset="0"/>
              </a:rPr>
              <a:t>Reduces dependency on external help.</a:t>
            </a:r>
          </a:p>
          <a:p>
            <a:r>
              <a:rPr lang="en-US" sz="2400" dirty="0">
                <a:latin typeface="Times New Roman" panose="02020603050405020304" pitchFamily="18" charset="0"/>
                <a:cs typeface="Times New Roman" panose="02020603050405020304" pitchFamily="18" charset="0"/>
              </a:rPr>
              <a:t>Encourages adoption of accessible design in academic systems.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4F49FF7-21AD-45B9-11C8-B23CD9E5171C}"/>
              </a:ext>
            </a:extLst>
          </p:cNvPr>
          <p:cNvSpPr>
            <a:spLocks noGrp="1"/>
          </p:cNvSpPr>
          <p:nvPr>
            <p:ph type="dt" sz="half" idx="10"/>
          </p:nvPr>
        </p:nvSpPr>
        <p:spPr/>
        <p:txBody>
          <a:bodyPr/>
          <a:lstStyle/>
          <a:p>
            <a:fld id="{F4AD1F96-71CD-4CEB-A453-AFC903363AB7}" type="datetime1">
              <a:rPr lang="en-IN" smtClean="0"/>
              <a:t>15-10-2025</a:t>
            </a:fld>
            <a:endParaRPr lang="en-IN"/>
          </a:p>
        </p:txBody>
      </p:sp>
      <p:sp>
        <p:nvSpPr>
          <p:cNvPr id="6" name="Slide Number Placeholder 5">
            <a:extLst>
              <a:ext uri="{FF2B5EF4-FFF2-40B4-BE49-F238E27FC236}">
                <a16:creationId xmlns:a16="http://schemas.microsoft.com/office/drawing/2014/main" id="{72F6FE67-A70E-70E3-3F46-A2488861373E}"/>
              </a:ext>
            </a:extLst>
          </p:cNvPr>
          <p:cNvSpPr>
            <a:spLocks noGrp="1"/>
          </p:cNvSpPr>
          <p:nvPr>
            <p:ph type="sldNum" sz="quarter" idx="12"/>
          </p:nvPr>
        </p:nvSpPr>
        <p:spPr/>
        <p:txBody>
          <a:bodyPr/>
          <a:lstStyle/>
          <a:p>
            <a:fld id="{47526DCF-DF60-4378-BFCC-D3A207344837}" type="slidenum">
              <a:rPr lang="en-IN" smtClean="0"/>
              <a:t>15</a:t>
            </a:fld>
            <a:endParaRPr lang="en-IN"/>
          </a:p>
        </p:txBody>
      </p:sp>
      <p:pic>
        <p:nvPicPr>
          <p:cNvPr id="7" name="Picture 6">
            <a:extLst>
              <a:ext uri="{FF2B5EF4-FFF2-40B4-BE49-F238E27FC236}">
                <a16:creationId xmlns:a16="http://schemas.microsoft.com/office/drawing/2014/main" id="{7331452E-E01D-BB32-F4C6-DE98363EE18D}"/>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1549317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4A12-A0D7-06D5-FBC6-343B3FF8AA0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Challenges Faced </a:t>
            </a:r>
          </a:p>
        </p:txBody>
      </p:sp>
      <p:sp>
        <p:nvSpPr>
          <p:cNvPr id="3" name="Content Placeholder 2">
            <a:extLst>
              <a:ext uri="{FF2B5EF4-FFF2-40B4-BE49-F238E27FC236}">
                <a16:creationId xmlns:a16="http://schemas.microsoft.com/office/drawing/2014/main" id="{AA1E345A-F78E-0E9D-1B8F-9ED5228FBEBD}"/>
              </a:ext>
            </a:extLst>
          </p:cNvPr>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Technical Challenges:</a:t>
            </a:r>
          </a:p>
          <a:p>
            <a:r>
              <a:rPr lang="en-IN" sz="2400" dirty="0">
                <a:latin typeface="Times New Roman" panose="02020603050405020304" pitchFamily="18" charset="0"/>
                <a:cs typeface="Times New Roman" panose="02020603050405020304" pitchFamily="18" charset="0"/>
              </a:rPr>
              <a:t>Synchronizing TTS and STT responses.</a:t>
            </a:r>
          </a:p>
          <a:p>
            <a:r>
              <a:rPr lang="en-IN" sz="2400" dirty="0">
                <a:latin typeface="Times New Roman" panose="02020603050405020304" pitchFamily="18" charset="0"/>
                <a:cs typeface="Times New Roman" panose="02020603050405020304" pitchFamily="18" charset="0"/>
              </a:rPr>
              <a:t>Ensuring multi-browser accessibility.</a:t>
            </a:r>
          </a:p>
          <a:p>
            <a:r>
              <a:rPr lang="en-IN" sz="2400" dirty="0">
                <a:latin typeface="Times New Roman" panose="02020603050405020304" pitchFamily="18" charset="0"/>
                <a:cs typeface="Times New Roman" panose="02020603050405020304" pitchFamily="18" charset="0"/>
              </a:rPr>
              <a:t>Managing latency in voice processing.</a:t>
            </a:r>
          </a:p>
          <a:p>
            <a:pPr marL="0" indent="0">
              <a:buNone/>
            </a:pPr>
            <a:r>
              <a:rPr lang="en-IN" b="1" dirty="0">
                <a:latin typeface="Times New Roman" panose="02020603050405020304" pitchFamily="18" charset="0"/>
                <a:cs typeface="Times New Roman" panose="02020603050405020304" pitchFamily="18" charset="0"/>
              </a:rPr>
              <a:t>Operational Challenges:</a:t>
            </a:r>
          </a:p>
          <a:p>
            <a:r>
              <a:rPr lang="en-IN" sz="2400" dirty="0">
                <a:latin typeface="Times New Roman" panose="02020603050405020304" pitchFamily="18" charset="0"/>
                <a:cs typeface="Times New Roman" panose="02020603050405020304" pitchFamily="18" charset="0"/>
              </a:rPr>
              <a:t>Collecting feedback from diverse user groups.</a:t>
            </a:r>
          </a:p>
          <a:p>
            <a:r>
              <a:rPr lang="en-IN" sz="2400" dirty="0">
                <a:latin typeface="Times New Roman" panose="02020603050405020304" pitchFamily="18" charset="0"/>
                <a:cs typeface="Times New Roman" panose="02020603050405020304" pitchFamily="18" charset="0"/>
              </a:rPr>
              <a:t>Training teachers to use accessibility tools.</a:t>
            </a:r>
          </a:p>
        </p:txBody>
      </p:sp>
      <p:sp>
        <p:nvSpPr>
          <p:cNvPr id="4" name="Date Placeholder 3">
            <a:extLst>
              <a:ext uri="{FF2B5EF4-FFF2-40B4-BE49-F238E27FC236}">
                <a16:creationId xmlns:a16="http://schemas.microsoft.com/office/drawing/2014/main" id="{C4A1DEE8-2712-97F8-0AA0-D407B46B9087}"/>
              </a:ext>
            </a:extLst>
          </p:cNvPr>
          <p:cNvSpPr>
            <a:spLocks noGrp="1"/>
          </p:cNvSpPr>
          <p:nvPr>
            <p:ph type="dt" sz="half" idx="10"/>
          </p:nvPr>
        </p:nvSpPr>
        <p:spPr/>
        <p:txBody>
          <a:bodyPr/>
          <a:lstStyle/>
          <a:p>
            <a:fld id="{FE9EBF22-2CB2-4164-AF8B-6A4D1059DC13}" type="datetime1">
              <a:rPr lang="en-IN" smtClean="0"/>
              <a:t>15-10-2025</a:t>
            </a:fld>
            <a:endParaRPr lang="en-IN"/>
          </a:p>
        </p:txBody>
      </p:sp>
      <p:sp>
        <p:nvSpPr>
          <p:cNvPr id="6" name="Slide Number Placeholder 5">
            <a:extLst>
              <a:ext uri="{FF2B5EF4-FFF2-40B4-BE49-F238E27FC236}">
                <a16:creationId xmlns:a16="http://schemas.microsoft.com/office/drawing/2014/main" id="{FE1246F4-1131-9BC1-6D0A-6F9F2793F809}"/>
              </a:ext>
            </a:extLst>
          </p:cNvPr>
          <p:cNvSpPr>
            <a:spLocks noGrp="1"/>
          </p:cNvSpPr>
          <p:nvPr>
            <p:ph type="sldNum" sz="quarter" idx="12"/>
          </p:nvPr>
        </p:nvSpPr>
        <p:spPr/>
        <p:txBody>
          <a:bodyPr/>
          <a:lstStyle/>
          <a:p>
            <a:fld id="{47526DCF-DF60-4378-BFCC-D3A207344837}" type="slidenum">
              <a:rPr lang="en-IN" smtClean="0"/>
              <a:t>16</a:t>
            </a:fld>
            <a:endParaRPr lang="en-IN"/>
          </a:p>
        </p:txBody>
      </p:sp>
      <p:pic>
        <p:nvPicPr>
          <p:cNvPr id="7" name="Picture 6">
            <a:extLst>
              <a:ext uri="{FF2B5EF4-FFF2-40B4-BE49-F238E27FC236}">
                <a16:creationId xmlns:a16="http://schemas.microsoft.com/office/drawing/2014/main" id="{3BC0864A-F518-AAF4-9F37-8C99069B43BD}"/>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4236308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0666-1392-9333-3018-8197057B1BD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Future Work </a:t>
            </a:r>
          </a:p>
        </p:txBody>
      </p:sp>
      <p:sp>
        <p:nvSpPr>
          <p:cNvPr id="3" name="Content Placeholder 2">
            <a:extLst>
              <a:ext uri="{FF2B5EF4-FFF2-40B4-BE49-F238E27FC236}">
                <a16:creationId xmlns:a16="http://schemas.microsoft.com/office/drawing/2014/main" id="{434CDF7F-070E-7FCE-AA62-C1973947F638}"/>
              </a:ext>
            </a:extLst>
          </p:cNvPr>
          <p:cNvSpPr>
            <a:spLocks noGrp="1"/>
          </p:cNvSpPr>
          <p:nvPr>
            <p:ph idx="1"/>
          </p:nvPr>
        </p:nvSpPr>
        <p:spPr/>
        <p:txBody>
          <a:bodyPr>
            <a:normAutofit/>
          </a:bodyPr>
          <a:lstStyle/>
          <a:p>
            <a:pPr>
              <a:lnSpc>
                <a:spcPct val="150000"/>
              </a:lnSpc>
            </a:pPr>
            <a:r>
              <a:rPr lang="en-IN" sz="2400" dirty="0">
                <a:latin typeface="Times New Roman" panose="02020603050405020304" pitchFamily="18" charset="0"/>
                <a:cs typeface="Times New Roman" panose="02020603050405020304" pitchFamily="18" charset="0"/>
              </a:rPr>
              <a:t>Add AI-driven speech error correction for improved STT accuracy.</a:t>
            </a:r>
          </a:p>
          <a:p>
            <a:pPr>
              <a:lnSpc>
                <a:spcPct val="150000"/>
              </a:lnSpc>
            </a:pPr>
            <a:r>
              <a:rPr lang="en-IN" sz="2400" dirty="0">
                <a:latin typeface="Times New Roman" panose="02020603050405020304" pitchFamily="18" charset="0"/>
                <a:cs typeface="Times New Roman" panose="02020603050405020304" pitchFamily="18" charset="0"/>
              </a:rPr>
              <a:t>Integrate regional language support (Telugu, Hindi, etc.).</a:t>
            </a:r>
          </a:p>
          <a:p>
            <a:pPr>
              <a:lnSpc>
                <a:spcPct val="150000"/>
              </a:lnSpc>
            </a:pPr>
            <a:r>
              <a:rPr lang="en-IN" sz="2400" dirty="0">
                <a:latin typeface="Times New Roman" panose="02020603050405020304" pitchFamily="18" charset="0"/>
                <a:cs typeface="Times New Roman" panose="02020603050405020304" pitchFamily="18" charset="0"/>
              </a:rPr>
              <a:t>Develop a mobile application version for easier access.</a:t>
            </a:r>
          </a:p>
          <a:p>
            <a:pPr>
              <a:lnSpc>
                <a:spcPct val="150000"/>
              </a:lnSpc>
            </a:pPr>
            <a:r>
              <a:rPr lang="en-IN" sz="2400" dirty="0">
                <a:latin typeface="Times New Roman" panose="02020603050405020304" pitchFamily="18" charset="0"/>
                <a:cs typeface="Times New Roman" panose="02020603050405020304" pitchFamily="18" charset="0"/>
              </a:rPr>
              <a:t>Collaborate with educational institutions and NGOs for implementation.</a:t>
            </a:r>
          </a:p>
        </p:txBody>
      </p:sp>
      <p:sp>
        <p:nvSpPr>
          <p:cNvPr id="4" name="Date Placeholder 3">
            <a:extLst>
              <a:ext uri="{FF2B5EF4-FFF2-40B4-BE49-F238E27FC236}">
                <a16:creationId xmlns:a16="http://schemas.microsoft.com/office/drawing/2014/main" id="{56F08B5E-4483-07DB-81C8-839D380A8142}"/>
              </a:ext>
            </a:extLst>
          </p:cNvPr>
          <p:cNvSpPr>
            <a:spLocks noGrp="1"/>
          </p:cNvSpPr>
          <p:nvPr>
            <p:ph type="dt" sz="half" idx="10"/>
          </p:nvPr>
        </p:nvSpPr>
        <p:spPr/>
        <p:txBody>
          <a:bodyPr/>
          <a:lstStyle/>
          <a:p>
            <a:fld id="{2193EFD1-43BA-46A2-BC19-C8E28D2B8CA2}" type="datetime1">
              <a:rPr lang="en-IN" smtClean="0"/>
              <a:t>15-10-2025</a:t>
            </a:fld>
            <a:endParaRPr lang="en-IN"/>
          </a:p>
        </p:txBody>
      </p:sp>
      <p:sp>
        <p:nvSpPr>
          <p:cNvPr id="6" name="Slide Number Placeholder 5">
            <a:extLst>
              <a:ext uri="{FF2B5EF4-FFF2-40B4-BE49-F238E27FC236}">
                <a16:creationId xmlns:a16="http://schemas.microsoft.com/office/drawing/2014/main" id="{57708094-4C4F-2666-5C5E-3A8653E9BA71}"/>
              </a:ext>
            </a:extLst>
          </p:cNvPr>
          <p:cNvSpPr>
            <a:spLocks noGrp="1"/>
          </p:cNvSpPr>
          <p:nvPr>
            <p:ph type="sldNum" sz="quarter" idx="12"/>
          </p:nvPr>
        </p:nvSpPr>
        <p:spPr/>
        <p:txBody>
          <a:bodyPr/>
          <a:lstStyle/>
          <a:p>
            <a:fld id="{47526DCF-DF60-4378-BFCC-D3A207344837}" type="slidenum">
              <a:rPr lang="en-IN" smtClean="0"/>
              <a:t>17</a:t>
            </a:fld>
            <a:endParaRPr lang="en-IN"/>
          </a:p>
        </p:txBody>
      </p:sp>
      <p:pic>
        <p:nvPicPr>
          <p:cNvPr id="7" name="Picture 6">
            <a:extLst>
              <a:ext uri="{FF2B5EF4-FFF2-40B4-BE49-F238E27FC236}">
                <a16:creationId xmlns:a16="http://schemas.microsoft.com/office/drawing/2014/main" id="{C96B0BEF-9A78-B267-4D22-323AA0653FB7}"/>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1889306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16F3-F74C-A352-259B-B4A788B579E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 </a:t>
            </a:r>
          </a:p>
        </p:txBody>
      </p:sp>
      <p:sp>
        <p:nvSpPr>
          <p:cNvPr id="3" name="Content Placeholder 2">
            <a:extLst>
              <a:ext uri="{FF2B5EF4-FFF2-40B4-BE49-F238E27FC236}">
                <a16:creationId xmlns:a16="http://schemas.microsoft.com/office/drawing/2014/main" id="{3804FB79-58CF-5340-6358-31F2F2D1602F}"/>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The Voice Ed project demonstrates how voice technologies can transform online learning for visually impaired students.</a:t>
            </a:r>
          </a:p>
          <a:p>
            <a:pPr>
              <a:lnSpc>
                <a:spcPct val="150000"/>
              </a:lnSpc>
            </a:pPr>
            <a:r>
              <a:rPr lang="en-US" sz="2400" dirty="0">
                <a:latin typeface="Times New Roman" panose="02020603050405020304" pitchFamily="18" charset="0"/>
                <a:cs typeface="Times New Roman" panose="02020603050405020304" pitchFamily="18" charset="0"/>
              </a:rPr>
              <a:t>By combining speech recognition, accessibility standards, and inclusive design, Voice Ed offers a practical, empowering, and scalable solution to make exams accessible for everyone.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E5ACB72-4075-D8FE-FA30-61E1E501C761}"/>
              </a:ext>
            </a:extLst>
          </p:cNvPr>
          <p:cNvSpPr>
            <a:spLocks noGrp="1"/>
          </p:cNvSpPr>
          <p:nvPr>
            <p:ph type="dt" sz="half" idx="10"/>
          </p:nvPr>
        </p:nvSpPr>
        <p:spPr/>
        <p:txBody>
          <a:bodyPr/>
          <a:lstStyle/>
          <a:p>
            <a:fld id="{77C97835-E227-4A81-8A01-A516A9EB8CD9}" type="datetime1">
              <a:rPr lang="en-IN" smtClean="0"/>
              <a:t>15-10-2025</a:t>
            </a:fld>
            <a:endParaRPr lang="en-IN"/>
          </a:p>
        </p:txBody>
      </p:sp>
      <p:sp>
        <p:nvSpPr>
          <p:cNvPr id="6" name="Slide Number Placeholder 5">
            <a:extLst>
              <a:ext uri="{FF2B5EF4-FFF2-40B4-BE49-F238E27FC236}">
                <a16:creationId xmlns:a16="http://schemas.microsoft.com/office/drawing/2014/main" id="{ACC6ABC5-6C65-1409-EB69-E2FAC1696D1C}"/>
              </a:ext>
            </a:extLst>
          </p:cNvPr>
          <p:cNvSpPr>
            <a:spLocks noGrp="1"/>
          </p:cNvSpPr>
          <p:nvPr>
            <p:ph type="sldNum" sz="quarter" idx="12"/>
          </p:nvPr>
        </p:nvSpPr>
        <p:spPr/>
        <p:txBody>
          <a:bodyPr/>
          <a:lstStyle/>
          <a:p>
            <a:fld id="{47526DCF-DF60-4378-BFCC-D3A207344837}" type="slidenum">
              <a:rPr lang="en-IN" smtClean="0"/>
              <a:t>18</a:t>
            </a:fld>
            <a:endParaRPr lang="en-IN"/>
          </a:p>
        </p:txBody>
      </p:sp>
      <p:pic>
        <p:nvPicPr>
          <p:cNvPr id="7" name="Picture 6">
            <a:extLst>
              <a:ext uri="{FF2B5EF4-FFF2-40B4-BE49-F238E27FC236}">
                <a16:creationId xmlns:a16="http://schemas.microsoft.com/office/drawing/2014/main" id="{236140F6-8849-D032-2F63-3E91818A83B9}"/>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183795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4AD2F-7B2B-C452-DECD-919AEC63C89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r>
              <a:rPr lang="en-IN" dirty="0"/>
              <a:t> </a:t>
            </a:r>
          </a:p>
        </p:txBody>
      </p:sp>
      <p:sp>
        <p:nvSpPr>
          <p:cNvPr id="3" name="Content Placeholder 2">
            <a:extLst>
              <a:ext uri="{FF2B5EF4-FFF2-40B4-BE49-F238E27FC236}">
                <a16:creationId xmlns:a16="http://schemas.microsoft.com/office/drawing/2014/main" id="{BFFBDFA1-988C-7F19-3A28-BB7F45AB2086}"/>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World Health Organization (WHO) – Visual Impairment Statistics.</a:t>
            </a:r>
          </a:p>
          <a:p>
            <a:pPr>
              <a:lnSpc>
                <a:spcPct val="150000"/>
              </a:lnSpc>
            </a:pPr>
            <a:r>
              <a:rPr lang="en-US" sz="2400" dirty="0">
                <a:latin typeface="Times New Roman" panose="02020603050405020304" pitchFamily="18" charset="0"/>
                <a:cs typeface="Times New Roman" panose="02020603050405020304" pitchFamily="18" charset="0"/>
              </a:rPr>
              <a:t>Web Content Accessibility Guidelines (WCAG 2.1).</a:t>
            </a:r>
          </a:p>
          <a:p>
            <a:pPr>
              <a:lnSpc>
                <a:spcPct val="150000"/>
              </a:lnSpc>
            </a:pPr>
            <a:r>
              <a:rPr lang="en-US" sz="2400" dirty="0">
                <a:latin typeface="Times New Roman" panose="02020603050405020304" pitchFamily="18" charset="0"/>
                <a:cs typeface="Times New Roman" panose="02020603050405020304" pitchFamily="18" charset="0"/>
              </a:rPr>
              <a:t>Google Cloud Speech-to-Text API  Documentation.</a:t>
            </a:r>
          </a:p>
          <a:p>
            <a:pPr>
              <a:lnSpc>
                <a:spcPct val="150000"/>
              </a:lnSpc>
            </a:pPr>
            <a:r>
              <a:rPr lang="en-US" sz="2400" dirty="0">
                <a:latin typeface="Times New Roman" panose="02020603050405020304" pitchFamily="18" charset="0"/>
                <a:cs typeface="Times New Roman" panose="02020603050405020304" pitchFamily="18" charset="0"/>
              </a:rPr>
              <a:t>Mozilla Accessibility Developer Tools.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A573FE8-0932-BE50-70F2-DCCFB9930475}"/>
              </a:ext>
            </a:extLst>
          </p:cNvPr>
          <p:cNvSpPr>
            <a:spLocks noGrp="1"/>
          </p:cNvSpPr>
          <p:nvPr>
            <p:ph type="dt" sz="half" idx="10"/>
          </p:nvPr>
        </p:nvSpPr>
        <p:spPr/>
        <p:txBody>
          <a:bodyPr/>
          <a:lstStyle/>
          <a:p>
            <a:fld id="{9F2FE5EE-CD67-42A0-9A9D-04CE4D439231}" type="datetime1">
              <a:rPr lang="en-IN" smtClean="0"/>
              <a:t>15-10-2025</a:t>
            </a:fld>
            <a:endParaRPr lang="en-IN"/>
          </a:p>
        </p:txBody>
      </p:sp>
      <p:sp>
        <p:nvSpPr>
          <p:cNvPr id="6" name="Slide Number Placeholder 5">
            <a:extLst>
              <a:ext uri="{FF2B5EF4-FFF2-40B4-BE49-F238E27FC236}">
                <a16:creationId xmlns:a16="http://schemas.microsoft.com/office/drawing/2014/main" id="{5E6A9A61-9870-D7FA-34D9-C5E639AC0867}"/>
              </a:ext>
            </a:extLst>
          </p:cNvPr>
          <p:cNvSpPr>
            <a:spLocks noGrp="1"/>
          </p:cNvSpPr>
          <p:nvPr>
            <p:ph type="sldNum" sz="quarter" idx="12"/>
          </p:nvPr>
        </p:nvSpPr>
        <p:spPr/>
        <p:txBody>
          <a:bodyPr/>
          <a:lstStyle/>
          <a:p>
            <a:fld id="{47526DCF-DF60-4378-BFCC-D3A207344837}" type="slidenum">
              <a:rPr lang="en-IN" smtClean="0"/>
              <a:t>19</a:t>
            </a:fld>
            <a:endParaRPr lang="en-IN"/>
          </a:p>
        </p:txBody>
      </p:sp>
      <p:pic>
        <p:nvPicPr>
          <p:cNvPr id="7" name="Picture 6">
            <a:extLst>
              <a:ext uri="{FF2B5EF4-FFF2-40B4-BE49-F238E27FC236}">
                <a16:creationId xmlns:a16="http://schemas.microsoft.com/office/drawing/2014/main" id="{74BE52DE-D1F9-A9EA-E4A0-3488CDFC82FC}"/>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365937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66C50-6FD8-DD5F-6FF5-BB9DD6B7E1D3}"/>
              </a:ext>
            </a:extLst>
          </p:cNvPr>
          <p:cNvSpPr>
            <a:spLocks noGrp="1"/>
          </p:cNvSpPr>
          <p:nvPr>
            <p:ph idx="1"/>
          </p:nvPr>
        </p:nvSpPr>
        <p:spPr/>
        <p:txBody>
          <a:bodyPr/>
          <a:lstStyle/>
          <a:p>
            <a:pPr marL="0" indent="0" algn="ctr">
              <a:buNone/>
            </a:pPr>
            <a:endParaRPr lang="en-IN" dirty="0"/>
          </a:p>
          <a:p>
            <a:pPr marL="0" indent="0" algn="ctr">
              <a:buNone/>
            </a:pPr>
            <a:endParaRPr lang="en-IN" dirty="0"/>
          </a:p>
          <a:p>
            <a:pPr marL="0" indent="0" algn="ctr">
              <a:buNone/>
            </a:pPr>
            <a:endParaRPr lang="en-IN" dirty="0"/>
          </a:p>
          <a:p>
            <a:pPr marL="0" indent="0" algn="ctr">
              <a:buNone/>
            </a:pPr>
            <a:r>
              <a:rPr lang="en-IN" sz="3600" b="1" dirty="0">
                <a:latin typeface="Times New Roman" panose="02020603050405020304" pitchFamily="18" charset="0"/>
                <a:cs typeface="Times New Roman" panose="02020603050405020304" pitchFamily="18" charset="0"/>
              </a:rPr>
              <a:t>Any Queries/ Questions? </a:t>
            </a:r>
          </a:p>
        </p:txBody>
      </p:sp>
      <p:sp>
        <p:nvSpPr>
          <p:cNvPr id="4" name="Date Placeholder 3">
            <a:extLst>
              <a:ext uri="{FF2B5EF4-FFF2-40B4-BE49-F238E27FC236}">
                <a16:creationId xmlns:a16="http://schemas.microsoft.com/office/drawing/2014/main" id="{0A1389F3-38E7-E345-6C1B-55E8D0E4A115}"/>
              </a:ext>
            </a:extLst>
          </p:cNvPr>
          <p:cNvSpPr>
            <a:spLocks noGrp="1"/>
          </p:cNvSpPr>
          <p:nvPr>
            <p:ph type="dt" sz="half" idx="10"/>
          </p:nvPr>
        </p:nvSpPr>
        <p:spPr/>
        <p:txBody>
          <a:bodyPr/>
          <a:lstStyle/>
          <a:p>
            <a:fld id="{94543B29-5F07-416A-A1AF-5804B2A93342}" type="datetime1">
              <a:rPr lang="en-IN" smtClean="0"/>
              <a:t>15-10-2025</a:t>
            </a:fld>
            <a:endParaRPr lang="en-IN"/>
          </a:p>
        </p:txBody>
      </p:sp>
      <p:sp>
        <p:nvSpPr>
          <p:cNvPr id="6" name="Slide Number Placeholder 5">
            <a:extLst>
              <a:ext uri="{FF2B5EF4-FFF2-40B4-BE49-F238E27FC236}">
                <a16:creationId xmlns:a16="http://schemas.microsoft.com/office/drawing/2014/main" id="{9BF642DD-AAA8-D382-7575-AA032AC13491}"/>
              </a:ext>
            </a:extLst>
          </p:cNvPr>
          <p:cNvSpPr>
            <a:spLocks noGrp="1"/>
          </p:cNvSpPr>
          <p:nvPr>
            <p:ph type="sldNum" sz="quarter" idx="12"/>
          </p:nvPr>
        </p:nvSpPr>
        <p:spPr/>
        <p:txBody>
          <a:bodyPr/>
          <a:lstStyle/>
          <a:p>
            <a:fld id="{47526DCF-DF60-4378-BFCC-D3A207344837}" type="slidenum">
              <a:rPr lang="en-IN" smtClean="0"/>
              <a:t>20</a:t>
            </a:fld>
            <a:endParaRPr lang="en-IN"/>
          </a:p>
        </p:txBody>
      </p:sp>
      <p:pic>
        <p:nvPicPr>
          <p:cNvPr id="7" name="Picture 6">
            <a:extLst>
              <a:ext uri="{FF2B5EF4-FFF2-40B4-BE49-F238E27FC236}">
                <a16:creationId xmlns:a16="http://schemas.microsoft.com/office/drawing/2014/main" id="{9699325B-D78C-24BC-FBDB-5366E4776485}"/>
              </a:ext>
            </a:extLst>
          </p:cNvPr>
          <p:cNvPicPr>
            <a:picLocks noChangeAspect="1"/>
          </p:cNvPicPr>
          <p:nvPr/>
        </p:nvPicPr>
        <p:blipFill>
          <a:blip r:embed="rId2"/>
          <a:stretch>
            <a:fillRect/>
          </a:stretch>
        </p:blipFill>
        <p:spPr>
          <a:xfrm>
            <a:off x="10548701" y="308164"/>
            <a:ext cx="749873" cy="512108"/>
          </a:xfrm>
          <a:prstGeom prst="rect">
            <a:avLst/>
          </a:prstGeom>
        </p:spPr>
      </p:pic>
    </p:spTree>
    <p:extLst>
      <p:ext uri="{BB962C8B-B14F-4D97-AF65-F5344CB8AC3E}">
        <p14:creationId xmlns:p14="http://schemas.microsoft.com/office/powerpoint/2010/main" val="2813571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TotalTime>
  <Words>1076</Words>
  <Application>Microsoft Office PowerPoint</Application>
  <PresentationFormat>Widescreen</PresentationFormat>
  <Paragraphs>174</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               Community Project Review 2 Branch: CSE- IoT, Cybersecurity with Blockchain Technology Department: Data Engineering  Semester: V                           Regulation: R23             Course Code: R23MSCSP001</vt:lpstr>
      <vt:lpstr>Abstract</vt:lpstr>
      <vt:lpstr>Introduction</vt:lpstr>
      <vt:lpstr>Project Objectives </vt:lpstr>
      <vt:lpstr>Problem Statement </vt:lpstr>
      <vt:lpstr>Project Scope </vt:lpstr>
      <vt:lpstr>Literature Review/ Background Study</vt:lpstr>
      <vt:lpstr>Data used</vt:lpstr>
      <vt:lpstr>Methodology and Proposed Solution</vt:lpstr>
      <vt:lpstr>Methodology and Proposed Solution(cont.)</vt:lpstr>
      <vt:lpstr>Implementation</vt:lpstr>
      <vt:lpstr>Implementation</vt:lpstr>
      <vt:lpstr>Results (Full) / Screenshots </vt:lpstr>
      <vt:lpstr>Results (Full) / Screenshots </vt:lpstr>
      <vt:lpstr>Impact Assessment </vt:lpstr>
      <vt:lpstr>Challenges Faced </vt:lpstr>
      <vt:lpstr>Future Work </vt:lpstr>
      <vt:lpstr>Conclusion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Sushma Vatekar</dc:creator>
  <cp:lastModifiedBy>pardhasaradhireddy karna</cp:lastModifiedBy>
  <cp:revision>6</cp:revision>
  <dcterms:created xsi:type="dcterms:W3CDTF">2025-09-22T15:29:51Z</dcterms:created>
  <dcterms:modified xsi:type="dcterms:W3CDTF">2025-10-15T05:48:37Z</dcterms:modified>
</cp:coreProperties>
</file>